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2"/>
    <p:sldId id="256" r:id="rId3"/>
    <p:sldId id="257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2" r:id="rId16"/>
    <p:sldId id="271" r:id="rId17"/>
    <p:sldId id="268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B068F0-E06D-48DB-AD93-43241B2A2758}" v="13" dt="2026-06-01T10:37:15.76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-492" y="2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deyji292211@gmail.com" userId="d85729594903d17e" providerId="LiveId" clId="{9D16D542-A2B9-4D32-BE32-958B9ABC0B25}"/>
    <pc:docChg chg="undo custSel addSld modSld sldOrd">
      <pc:chgData name="pandeyji292211@gmail.com" userId="d85729594903d17e" providerId="LiveId" clId="{9D16D542-A2B9-4D32-BE32-958B9ABC0B25}" dt="2026-06-01T10:37:24.953" v="465" actId="1076"/>
      <pc:docMkLst>
        <pc:docMk/>
      </pc:docMkLst>
      <pc:sldChg chg="addSp delSp modSp new mod ord">
        <pc:chgData name="pandeyji292211@gmail.com" userId="d85729594903d17e" providerId="LiveId" clId="{9D16D542-A2B9-4D32-BE32-958B9ABC0B25}" dt="2026-06-01T10:16:27.891" v="11" actId="1076"/>
        <pc:sldMkLst>
          <pc:docMk/>
          <pc:sldMk cId="3112200269" sldId="269"/>
        </pc:sldMkLst>
        <pc:spChg chg="mod">
          <ac:chgData name="pandeyji292211@gmail.com" userId="d85729594903d17e" providerId="LiveId" clId="{9D16D542-A2B9-4D32-BE32-958B9ABC0B25}" dt="2026-06-01T10:15:35.206" v="5"/>
          <ac:spMkLst>
            <pc:docMk/>
            <pc:sldMk cId="3112200269" sldId="269"/>
            <ac:spMk id="2" creationId="{7CA78E66-C31B-728E-7A39-BDC57EBBB3D4}"/>
          </ac:spMkLst>
        </pc:spChg>
        <pc:spChg chg="del mod">
          <ac:chgData name="pandeyji292211@gmail.com" userId="d85729594903d17e" providerId="LiveId" clId="{9D16D542-A2B9-4D32-BE32-958B9ABC0B25}" dt="2026-06-01T10:15:20.653" v="4" actId="21"/>
          <ac:spMkLst>
            <pc:docMk/>
            <pc:sldMk cId="3112200269" sldId="269"/>
            <ac:spMk id="3" creationId="{1C275AEE-8322-9C94-9895-6E94DF1DEB3B}"/>
          </ac:spMkLst>
        </pc:spChg>
        <pc:graphicFrameChg chg="add modGraphic">
          <ac:chgData name="pandeyji292211@gmail.com" userId="d85729594903d17e" providerId="LiveId" clId="{9D16D542-A2B9-4D32-BE32-958B9ABC0B25}" dt="2026-06-01T10:16:07.619" v="8" actId="14734"/>
          <ac:graphicFrameMkLst>
            <pc:docMk/>
            <pc:sldMk cId="3112200269" sldId="269"/>
            <ac:graphicFrameMk id="4" creationId="{529FD408-A18E-A5A2-05BB-9E80F68306C2}"/>
          </ac:graphicFrameMkLst>
        </pc:graphicFrameChg>
        <pc:graphicFrameChg chg="add mod">
          <ac:chgData name="pandeyji292211@gmail.com" userId="d85729594903d17e" providerId="LiveId" clId="{9D16D542-A2B9-4D32-BE32-958B9ABC0B25}" dt="2026-06-01T10:16:27.891" v="11" actId="1076"/>
          <ac:graphicFrameMkLst>
            <pc:docMk/>
            <pc:sldMk cId="3112200269" sldId="269"/>
            <ac:graphicFrameMk id="5" creationId="{18B83C48-9D29-BC47-4E46-CD52113C5E80}"/>
          </ac:graphicFrameMkLst>
        </pc:graphicFrameChg>
      </pc:sldChg>
      <pc:sldChg chg="addSp delSp modSp new mod ord">
        <pc:chgData name="pandeyji292211@gmail.com" userId="d85729594903d17e" providerId="LiveId" clId="{9D16D542-A2B9-4D32-BE32-958B9ABC0B25}" dt="2026-06-01T10:37:24.953" v="465" actId="1076"/>
        <pc:sldMkLst>
          <pc:docMk/>
          <pc:sldMk cId="1397004488" sldId="270"/>
        </pc:sldMkLst>
        <pc:spChg chg="del mod">
          <ac:chgData name="pandeyji292211@gmail.com" userId="d85729594903d17e" providerId="LiveId" clId="{9D16D542-A2B9-4D32-BE32-958B9ABC0B25}" dt="2026-06-01T10:21:23.302" v="16" actId="21"/>
          <ac:spMkLst>
            <pc:docMk/>
            <pc:sldMk cId="1397004488" sldId="270"/>
            <ac:spMk id="2" creationId="{DD9DBDA9-9B4E-1E4B-92A9-70EF034F184C}"/>
          </ac:spMkLst>
        </pc:spChg>
        <pc:spChg chg="del mod">
          <ac:chgData name="pandeyji292211@gmail.com" userId="d85729594903d17e" providerId="LiveId" clId="{9D16D542-A2B9-4D32-BE32-958B9ABC0B25}" dt="2026-06-01T10:21:29.835" v="18" actId="21"/>
          <ac:spMkLst>
            <pc:docMk/>
            <pc:sldMk cId="1397004488" sldId="270"/>
            <ac:spMk id="3" creationId="{0C7E8740-36AB-94A8-033E-ECD51B4B987D}"/>
          </ac:spMkLst>
        </pc:spChg>
        <pc:spChg chg="add del mod">
          <ac:chgData name="pandeyji292211@gmail.com" userId="d85729594903d17e" providerId="LiveId" clId="{9D16D542-A2B9-4D32-BE32-958B9ABC0B25}" dt="2026-06-01T10:23:45.497" v="27" actId="21"/>
          <ac:spMkLst>
            <pc:docMk/>
            <pc:sldMk cId="1397004488" sldId="270"/>
            <ac:spMk id="7" creationId="{77B43721-355A-C1BE-6483-91CFD7EF6A29}"/>
          </ac:spMkLst>
        </pc:spChg>
        <pc:spChg chg="add mod">
          <ac:chgData name="pandeyji292211@gmail.com" userId="d85729594903d17e" providerId="LiveId" clId="{9D16D542-A2B9-4D32-BE32-958B9ABC0B25}" dt="2026-06-01T10:30:55.770" v="190" actId="255"/>
          <ac:spMkLst>
            <pc:docMk/>
            <pc:sldMk cId="1397004488" sldId="270"/>
            <ac:spMk id="9" creationId="{F9219EAD-F376-9276-C815-4F5EF45DC61C}"/>
          </ac:spMkLst>
        </pc:spChg>
        <pc:spChg chg="add del mod">
          <ac:chgData name="pandeyji292211@gmail.com" userId="d85729594903d17e" providerId="LiveId" clId="{9D16D542-A2B9-4D32-BE32-958B9ABC0B25}" dt="2026-06-01T10:27:34.027" v="137" actId="21"/>
          <ac:spMkLst>
            <pc:docMk/>
            <pc:sldMk cId="1397004488" sldId="270"/>
            <ac:spMk id="10" creationId="{A7B23FAE-8D5D-5DA4-AA60-74B9D911E864}"/>
          </ac:spMkLst>
        </pc:spChg>
        <pc:spChg chg="add mod">
          <ac:chgData name="pandeyji292211@gmail.com" userId="d85729594903d17e" providerId="LiveId" clId="{9D16D542-A2B9-4D32-BE32-958B9ABC0B25}" dt="2026-06-01T10:31:14.320" v="192" actId="255"/>
          <ac:spMkLst>
            <pc:docMk/>
            <pc:sldMk cId="1397004488" sldId="270"/>
            <ac:spMk id="12" creationId="{5A1014A3-6D63-A82D-A24D-477720DA63CF}"/>
          </ac:spMkLst>
        </pc:spChg>
        <pc:spChg chg="add mod">
          <ac:chgData name="pandeyji292211@gmail.com" userId="d85729594903d17e" providerId="LiveId" clId="{9D16D542-A2B9-4D32-BE32-958B9ABC0B25}" dt="2026-06-01T10:33:45.344" v="245" actId="255"/>
          <ac:spMkLst>
            <pc:docMk/>
            <pc:sldMk cId="1397004488" sldId="270"/>
            <ac:spMk id="14" creationId="{88A10D18-2704-A17D-AD8E-E79B41AFE8BD}"/>
          </ac:spMkLst>
        </pc:spChg>
        <pc:spChg chg="add mod">
          <ac:chgData name="pandeyji292211@gmail.com" userId="d85729594903d17e" providerId="LiveId" clId="{9D16D542-A2B9-4D32-BE32-958B9ABC0B25}" dt="2026-06-01T10:37:24.953" v="465" actId="1076"/>
          <ac:spMkLst>
            <pc:docMk/>
            <pc:sldMk cId="1397004488" sldId="270"/>
            <ac:spMk id="16" creationId="{1E1CE34D-11E4-0D4E-4C72-DA758DE3F6DC}"/>
          </ac:spMkLst>
        </pc:spChg>
        <pc:picChg chg="add mod">
          <ac:chgData name="pandeyji292211@gmail.com" userId="d85729594903d17e" providerId="LiveId" clId="{9D16D542-A2B9-4D32-BE32-958B9ABC0B25}" dt="2026-06-01T10:22:10.769" v="20" actId="1076"/>
          <ac:picMkLst>
            <pc:docMk/>
            <pc:sldMk cId="1397004488" sldId="270"/>
            <ac:picMk id="4" creationId="{CD7DDD83-CC77-BA28-6157-6BE88FCFC8EA}"/>
          </ac:picMkLst>
        </pc:picChg>
        <pc:picChg chg="add mod">
          <ac:chgData name="pandeyji292211@gmail.com" userId="d85729594903d17e" providerId="LiveId" clId="{9D16D542-A2B9-4D32-BE32-958B9ABC0B25}" dt="2026-06-01T10:22:29.882" v="22" actId="1076"/>
          <ac:picMkLst>
            <pc:docMk/>
            <pc:sldMk cId="1397004488" sldId="270"/>
            <ac:picMk id="5" creationId="{7A77151F-CEF8-61CB-E7DB-71B7D50BF184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0" y="1681162"/>
            <a:ext cx="952499" cy="952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37199" y="2424599"/>
            <a:ext cx="6117601" cy="170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818CF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96347" y="4401375"/>
            <a:ext cx="7399304" cy="779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F1F4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818CF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F1F4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818CF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818CF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5" y="551560"/>
            <a:ext cx="826135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818CF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21425" y="3042454"/>
            <a:ext cx="5248275" cy="1644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F1F4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vecteezy.com/" TargetMode="External"/><Relationship Id="rId3" Type="http://schemas.openxmlformats.org/officeDocument/2006/relationships/image" Target="../media/image27.png"/><Relationship Id="rId7" Type="http://schemas.openxmlformats.org/officeDocument/2006/relationships/hyperlink" Target="https://static.vecteezy.com/system/resources/thumbnails/075/537/349/small_2x/medical-data-analysis-with-digital-interface-and-healthcare-professional-free-video.jpg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ertureneuro.org/article/123059-brainchop-providing-an-edge-ecosystem-for-deployment-of-neuroimaging-artificial-intelligence-models/attachment/243626.png" TargetMode="External"/><Relationship Id="rId11" Type="http://schemas.openxmlformats.org/officeDocument/2006/relationships/hyperlink" Target="https://static.vecteezy.com/system/resources/previews/026/392/739/non_2x/data-analysis-in-medical-industry-loop-concept-icon-clinic-software-innovations-in-healthcare-abstra" TargetMode="External"/><Relationship Id="rId5" Type="http://schemas.openxmlformats.org/officeDocument/2006/relationships/image" Target="../media/image29.png"/><Relationship Id="rId10" Type="http://schemas.openxmlformats.org/officeDocument/2006/relationships/hyperlink" Target="http://www.mdpi.com/" TargetMode="External"/><Relationship Id="rId4" Type="http://schemas.openxmlformats.org/officeDocument/2006/relationships/image" Target="../media/image28.png"/><Relationship Id="rId9" Type="http://schemas.openxmlformats.org/officeDocument/2006/relationships/hyperlink" Target="https://www.mdpi.com/brainsci/brainsci-16-00411/article_deploy/html/images/brainsci-16-00411-g010-550.jp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ridyesh-kumar-pandey-2934a4395" TargetMode="External"/><Relationship Id="rId2" Type="http://schemas.openxmlformats.org/officeDocument/2006/relationships/hyperlink" Target="https://hridyeshpandey4680-blip.github.io/Portfolio/" TargetMode="Externa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xmlns="" id="{7A77151F-CEF8-61CB-E7DB-71B7D50BF1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0"/>
            <a:ext cx="12039600" cy="1447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9219EAD-F376-9276-C815-4F5EF45DC61C}"/>
              </a:ext>
            </a:extLst>
          </p:cNvPr>
          <p:cNvSpPr txBox="1"/>
          <p:nvPr/>
        </p:nvSpPr>
        <p:spPr>
          <a:xfrm>
            <a:off x="304800" y="1752600"/>
            <a:ext cx="1173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Subject : Cognitive Computing and Modeling (E1PY215T)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A1014A3-6D63-A82D-A24D-477720DA63CF}"/>
              </a:ext>
            </a:extLst>
          </p:cNvPr>
          <p:cNvSpPr txBox="1"/>
          <p:nvPr/>
        </p:nvSpPr>
        <p:spPr>
          <a:xfrm>
            <a:off x="304800" y="2590800"/>
            <a:ext cx="74489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3200" b="1" dirty="0">
                <a:solidFill>
                  <a:schemeClr val="bg1"/>
                </a:solidFill>
                <a:latin typeface="Calibri"/>
                <a:cs typeface="Calibri"/>
              </a:rPr>
              <a:t>Title: MindPredict AI_Technical Deep Dive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88A10D18-2704-A17D-AD8E-E79B41AFE8BD}"/>
              </a:ext>
            </a:extLst>
          </p:cNvPr>
          <p:cNvSpPr txBox="1"/>
          <p:nvPr/>
        </p:nvSpPr>
        <p:spPr>
          <a:xfrm>
            <a:off x="457200" y="4572000"/>
            <a:ext cx="6098458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b="1" dirty="0">
                <a:solidFill>
                  <a:schemeClr val="bg1"/>
                </a:solidFill>
                <a:latin typeface="Calibri"/>
                <a:cs typeface="Calibri"/>
              </a:rPr>
              <a:t>Submitted to: </a:t>
            </a:r>
            <a:endParaRPr lang="en-US" sz="2400" b="1" dirty="0" smtClean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Calibri"/>
                <a:cs typeface="Calibri"/>
              </a:rPr>
              <a:t>Dr</a:t>
            </a:r>
            <a:r>
              <a:rPr lang="en-US" sz="2400" b="1" dirty="0">
                <a:solidFill>
                  <a:schemeClr val="bg1"/>
                </a:solidFill>
                <a:latin typeface="Calibri"/>
                <a:cs typeface="Calibri"/>
              </a:rPr>
              <a:t>. Vineeta Khemchandani Ma’am</a:t>
            </a:r>
            <a:endParaRPr lang="en-IN" sz="24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1E1CE34D-11E4-0D4E-4C72-DA758DE3F6DC}"/>
              </a:ext>
            </a:extLst>
          </p:cNvPr>
          <p:cNvSpPr txBox="1"/>
          <p:nvPr/>
        </p:nvSpPr>
        <p:spPr>
          <a:xfrm>
            <a:off x="6172200" y="4514357"/>
            <a:ext cx="5598416" cy="851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105"/>
              </a:spcBef>
            </a:pPr>
            <a:r>
              <a:rPr lang="en-US" sz="2400" b="1" dirty="0">
                <a:solidFill>
                  <a:schemeClr val="bg1"/>
                </a:solidFill>
                <a:latin typeface="Calibri"/>
                <a:cs typeface="Calibri"/>
              </a:rPr>
              <a:t>S</a:t>
            </a:r>
            <a:r>
              <a:rPr lang="en-IN" sz="2400" b="1" dirty="0">
                <a:solidFill>
                  <a:schemeClr val="bg1"/>
                </a:solidFill>
                <a:latin typeface="Calibri"/>
                <a:cs typeface="Calibri"/>
              </a:rPr>
              <a:t>ubmitted by</a:t>
            </a:r>
            <a:r>
              <a:rPr lang="en-IN" sz="2400" b="1" dirty="0" smtClean="0">
                <a:solidFill>
                  <a:schemeClr val="bg1"/>
                </a:solidFill>
                <a:latin typeface="Calibri"/>
                <a:cs typeface="Calibri"/>
              </a:rPr>
              <a:t>:</a:t>
            </a:r>
          </a:p>
          <a:p>
            <a:pPr marL="12700" marR="5080">
              <a:lnSpc>
                <a:spcPct val="100800"/>
              </a:lnSpc>
              <a:spcBef>
                <a:spcPts val="105"/>
              </a:spcBef>
            </a:pPr>
            <a:r>
              <a:rPr lang="en-IN" sz="2400" b="1" dirty="0" smtClean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IN" sz="2400" b="1" dirty="0">
                <a:solidFill>
                  <a:schemeClr val="bg1"/>
                </a:solidFill>
                <a:latin typeface="Calibri"/>
                <a:cs typeface="Calibri"/>
              </a:rPr>
              <a:t>Hridyesh Kr. </a:t>
            </a:r>
            <a:r>
              <a:rPr lang="en-IN" sz="2400" b="1" dirty="0" smtClean="0">
                <a:solidFill>
                  <a:schemeClr val="bg1"/>
                </a:solidFill>
                <a:latin typeface="Calibri"/>
                <a:cs typeface="Calibri"/>
              </a:rPr>
              <a:t>Pandey</a:t>
            </a:r>
            <a:r>
              <a:rPr lang="en-IN" sz="2400" b="1" dirty="0" smtClean="0">
                <a:solidFill>
                  <a:schemeClr val="bg1"/>
                </a:solidFill>
                <a:latin typeface="Calibri"/>
                <a:cs typeface="Calibri"/>
              </a:rPr>
              <a:t>(25SCSE2240130)</a:t>
            </a:r>
            <a:endParaRPr lang="en-IN"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7004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2905"/>
              </a:spcBef>
            </a:pPr>
            <a:r>
              <a:rPr sz="6000" spc="140" dirty="0">
                <a:solidFill>
                  <a:srgbClr val="FFFFFF"/>
                </a:solidFill>
              </a:rPr>
              <a:t>Mind</a:t>
            </a:r>
            <a:r>
              <a:rPr sz="6000" spc="-330" dirty="0">
                <a:solidFill>
                  <a:srgbClr val="FFFFFF"/>
                </a:solidFill>
              </a:rPr>
              <a:t> </a:t>
            </a:r>
            <a:r>
              <a:rPr sz="6000" spc="-215" dirty="0">
                <a:solidFill>
                  <a:srgbClr val="FFFFFF"/>
                </a:solidFill>
              </a:rPr>
              <a:t>Predict</a:t>
            </a:r>
            <a:r>
              <a:rPr sz="6000" spc="-340" dirty="0">
                <a:solidFill>
                  <a:srgbClr val="FFFFFF"/>
                </a:solidFill>
              </a:rPr>
              <a:t> </a:t>
            </a:r>
            <a:r>
              <a:rPr sz="6000" spc="185" dirty="0">
                <a:solidFill>
                  <a:srgbClr val="FFFFFF"/>
                </a:solidFill>
              </a:rPr>
              <a:t>AI</a:t>
            </a:r>
            <a:endParaRPr sz="6000"/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950" b="0" spc="-20" dirty="0">
                <a:solidFill>
                  <a:srgbClr val="4F46E4"/>
                </a:solidFill>
                <a:latin typeface="Courier New"/>
                <a:cs typeface="Courier New"/>
              </a:rPr>
              <a:t>Multi-</a:t>
            </a:r>
            <a:r>
              <a:rPr sz="1950" b="0" dirty="0">
                <a:solidFill>
                  <a:srgbClr val="4F46E4"/>
                </a:solidFill>
                <a:latin typeface="Courier New"/>
                <a:cs typeface="Courier New"/>
              </a:rPr>
              <a:t>Model</a:t>
            </a:r>
            <a:r>
              <a:rPr sz="1950" b="0" spc="-80" dirty="0">
                <a:solidFill>
                  <a:srgbClr val="4F46E4"/>
                </a:solidFill>
                <a:latin typeface="Courier New"/>
                <a:cs typeface="Courier New"/>
              </a:rPr>
              <a:t> </a:t>
            </a:r>
            <a:r>
              <a:rPr sz="1950" b="0" dirty="0">
                <a:solidFill>
                  <a:srgbClr val="4F46E4"/>
                </a:solidFill>
                <a:latin typeface="Courier New"/>
                <a:cs typeface="Courier New"/>
              </a:rPr>
              <a:t>Clinical</a:t>
            </a:r>
            <a:r>
              <a:rPr sz="1950" b="0" spc="-80" dirty="0">
                <a:solidFill>
                  <a:srgbClr val="4F46E4"/>
                </a:solidFill>
                <a:latin typeface="Courier New"/>
                <a:cs typeface="Courier New"/>
              </a:rPr>
              <a:t> </a:t>
            </a:r>
            <a:r>
              <a:rPr sz="1950" b="0" dirty="0">
                <a:solidFill>
                  <a:srgbClr val="4F46E4"/>
                </a:solidFill>
                <a:latin typeface="Courier New"/>
                <a:cs typeface="Courier New"/>
              </a:rPr>
              <a:t>Diagnostic</a:t>
            </a:r>
            <a:r>
              <a:rPr sz="1950" b="0" spc="-80" dirty="0">
                <a:solidFill>
                  <a:srgbClr val="4F46E4"/>
                </a:solidFill>
                <a:latin typeface="Courier New"/>
                <a:cs typeface="Courier New"/>
              </a:rPr>
              <a:t> </a:t>
            </a:r>
            <a:r>
              <a:rPr sz="1950" b="0" spc="-10" dirty="0">
                <a:solidFill>
                  <a:srgbClr val="4F46E4"/>
                </a:solidFill>
                <a:latin typeface="Courier New"/>
                <a:cs typeface="Courier New"/>
              </a:rPr>
              <a:t>Framework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7155" marR="5080" indent="-2625090">
              <a:lnSpc>
                <a:spcPct val="150000"/>
              </a:lnSpc>
              <a:spcBef>
                <a:spcPts val="100"/>
              </a:spcBef>
            </a:pPr>
            <a:r>
              <a:rPr sz="1650" b="0" spc="135" dirty="0">
                <a:solidFill>
                  <a:srgbClr val="94A3B8"/>
                </a:solidFill>
                <a:latin typeface="Trebuchet MS"/>
                <a:cs typeface="Trebuchet MS"/>
              </a:rPr>
              <a:t>A</a:t>
            </a:r>
            <a:r>
              <a:rPr sz="1650" b="0" spc="-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20" dirty="0">
                <a:solidFill>
                  <a:srgbClr val="94A3B8"/>
                </a:solidFill>
                <a:latin typeface="Trebuchet MS"/>
                <a:cs typeface="Trebuchet MS"/>
              </a:rPr>
              <a:t>production-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grade</a:t>
            </a:r>
            <a:r>
              <a:rPr sz="1650" b="0" spc="-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60" dirty="0">
                <a:solidFill>
                  <a:srgbClr val="94A3B8"/>
                </a:solidFill>
                <a:latin typeface="Trebuchet MS"/>
                <a:cs typeface="Trebuchet MS"/>
              </a:rPr>
              <a:t>pipeline</a:t>
            </a:r>
            <a:r>
              <a:rPr sz="1650" b="0" spc="-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40" dirty="0">
                <a:solidFill>
                  <a:srgbClr val="94A3B8"/>
                </a:solidFill>
                <a:latin typeface="Trebuchet MS"/>
                <a:cs typeface="Trebuchet MS"/>
              </a:rPr>
              <a:t>for</a:t>
            </a:r>
            <a:r>
              <a:rPr sz="1650" b="0" spc="-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20" dirty="0">
                <a:solidFill>
                  <a:srgbClr val="94A3B8"/>
                </a:solidFill>
                <a:latin typeface="Trebuchet MS"/>
                <a:cs typeface="Trebuchet MS"/>
              </a:rPr>
              <a:t>neuro-</a:t>
            </a:r>
            <a:r>
              <a:rPr sz="1650" b="0" spc="-35" dirty="0">
                <a:solidFill>
                  <a:srgbClr val="94A3B8"/>
                </a:solidFill>
                <a:latin typeface="Trebuchet MS"/>
                <a:cs typeface="Trebuchet MS"/>
              </a:rPr>
              <a:t>psychiatric</a:t>
            </a:r>
            <a:r>
              <a:rPr sz="1650" b="0" spc="-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20" dirty="0">
                <a:solidFill>
                  <a:srgbClr val="94A3B8"/>
                </a:solidFill>
                <a:latin typeface="Trebuchet MS"/>
                <a:cs typeface="Trebuchet MS"/>
              </a:rPr>
              <a:t>screening</a:t>
            </a:r>
            <a:r>
              <a:rPr sz="1650" b="0" spc="-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25" dirty="0">
                <a:solidFill>
                  <a:srgbClr val="94A3B8"/>
                </a:solidFill>
                <a:latin typeface="Trebuchet MS"/>
                <a:cs typeface="Trebuchet MS"/>
              </a:rPr>
              <a:t>using</a:t>
            </a:r>
            <a:r>
              <a:rPr sz="1650" b="0" spc="-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Deep</a:t>
            </a:r>
            <a:r>
              <a:rPr sz="1650" b="0" spc="-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Learning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650" b="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Classical</a:t>
            </a:r>
            <a:r>
              <a:rPr sz="1650" b="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Baselines.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2062162"/>
            <a:ext cx="5276849" cy="3619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0225" y="1977262"/>
            <a:ext cx="5247640" cy="3503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7785">
              <a:lnSpc>
                <a:spcPct val="150000"/>
              </a:lnSpc>
              <a:spcBef>
                <a:spcPts val="100"/>
              </a:spcBef>
            </a:pP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94A3B8"/>
                </a:solidFill>
                <a:latin typeface="Trebuchet MS"/>
                <a:cs typeface="Trebuchet MS"/>
              </a:rPr>
              <a:t>MindPredict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55" dirty="0">
                <a:solidFill>
                  <a:srgbClr val="94A3B8"/>
                </a:solidFill>
                <a:latin typeface="Trebuchet MS"/>
                <a:cs typeface="Trebuchet MS"/>
              </a:rPr>
              <a:t>project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automates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diagnostic 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classification</a:t>
            </a:r>
            <a:r>
              <a:rPr sz="1650" spc="-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by</a:t>
            </a:r>
            <a:r>
              <a:rPr sz="1650" spc="-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94A3B8"/>
                </a:solidFill>
                <a:latin typeface="Trebuchet MS"/>
                <a:cs typeface="Trebuchet MS"/>
              </a:rPr>
              <a:t>fusing</a:t>
            </a:r>
            <a:r>
              <a:rPr sz="1650" spc="-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neurophysiological</a:t>
            </a:r>
            <a:r>
              <a:rPr sz="1650" spc="-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EEG</a:t>
            </a:r>
            <a:r>
              <a:rPr sz="1650" spc="-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data</a:t>
            </a:r>
            <a:r>
              <a:rPr sz="1650" spc="-1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with </a:t>
            </a:r>
            <a:r>
              <a:rPr sz="1650" spc="-30" dirty="0">
                <a:solidFill>
                  <a:srgbClr val="94A3B8"/>
                </a:solidFill>
                <a:latin typeface="Trebuchet MS"/>
                <a:cs typeface="Trebuchet MS"/>
              </a:rPr>
              <a:t>behavioral</a:t>
            </a:r>
            <a:r>
              <a:rPr sz="1650" spc="-3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psychometrics.</a:t>
            </a:r>
            <a:endParaRPr sz="1650" dirty="0">
              <a:latin typeface="Trebuchet MS"/>
              <a:cs typeface="Trebuchet MS"/>
            </a:endParaRPr>
          </a:p>
          <a:p>
            <a:pPr marL="88900" marR="300990" indent="-88900">
              <a:lnSpc>
                <a:spcPct val="150000"/>
              </a:lnSpc>
              <a:spcBef>
                <a:spcPts val="390"/>
              </a:spcBef>
              <a:buSzPct val="69696"/>
              <a:buFont typeface="Trebuchet MS"/>
              <a:buChar char="•"/>
              <a:tabLst>
                <a:tab pos="88900" algn="l"/>
              </a:tabLst>
            </a:pPr>
            <a:r>
              <a:rPr sz="1650" b="1" dirty="0">
                <a:solidFill>
                  <a:srgbClr val="94A3B8"/>
                </a:solidFill>
                <a:latin typeface="Trebuchet MS"/>
                <a:cs typeface="Trebuchet MS"/>
              </a:rPr>
              <a:t>Multi-Modal</a:t>
            </a:r>
            <a:r>
              <a:rPr sz="1650" b="1" spc="2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94A3B8"/>
                </a:solidFill>
                <a:latin typeface="Trebuchet MS"/>
                <a:cs typeface="Trebuchet MS"/>
              </a:rPr>
              <a:t>Ingestion:</a:t>
            </a:r>
            <a:r>
              <a:rPr sz="1650" b="1" spc="2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Processes</a:t>
            </a:r>
            <a:r>
              <a:rPr sz="1650" spc="2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EEG</a:t>
            </a:r>
            <a:r>
              <a:rPr sz="1650" spc="2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Spectrometry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Clinical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Survey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Scores.</a:t>
            </a:r>
            <a:endParaRPr sz="1650" dirty="0">
              <a:latin typeface="Trebuchet MS"/>
              <a:cs typeface="Trebuchet MS"/>
            </a:endParaRPr>
          </a:p>
          <a:p>
            <a:pPr marL="88900" marR="896619" indent="-88900">
              <a:lnSpc>
                <a:spcPct val="150000"/>
              </a:lnSpc>
              <a:spcBef>
                <a:spcPts val="135"/>
              </a:spcBef>
              <a:buSzPct val="69696"/>
              <a:buFont typeface="Trebuchet MS"/>
              <a:buChar char="•"/>
              <a:tabLst>
                <a:tab pos="88900" algn="l"/>
              </a:tabLst>
            </a:pPr>
            <a:r>
              <a:rPr sz="1650" b="1" spc="-40" dirty="0">
                <a:solidFill>
                  <a:srgbClr val="94A3B8"/>
                </a:solidFill>
                <a:latin typeface="Trebuchet MS"/>
                <a:cs typeface="Trebuchet MS"/>
              </a:rPr>
              <a:t>Hybrid</a:t>
            </a:r>
            <a:r>
              <a:rPr sz="1650" b="1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1" spc="-75" dirty="0">
                <a:solidFill>
                  <a:srgbClr val="94A3B8"/>
                </a:solidFill>
                <a:latin typeface="Trebuchet MS"/>
                <a:cs typeface="Trebuchet MS"/>
              </a:rPr>
              <a:t>Architecture:</a:t>
            </a:r>
            <a:r>
              <a:rPr sz="1650" b="1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94A3B8"/>
                </a:solidFill>
                <a:latin typeface="Trebuchet MS"/>
                <a:cs typeface="Trebuchet MS"/>
              </a:rPr>
              <a:t>Simultaneously</a:t>
            </a:r>
            <a:r>
              <a:rPr sz="165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94A3B8"/>
                </a:solidFill>
                <a:latin typeface="Trebuchet MS"/>
                <a:cs typeface="Trebuchet MS"/>
              </a:rPr>
              <a:t>runs</a:t>
            </a:r>
            <a:r>
              <a:rPr sz="165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CNN,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RNN-</a:t>
            </a:r>
            <a:r>
              <a:rPr sz="1650" spc="-80" dirty="0">
                <a:solidFill>
                  <a:srgbClr val="94A3B8"/>
                </a:solidFill>
                <a:latin typeface="Trebuchet MS"/>
                <a:cs typeface="Trebuchet MS"/>
              </a:rPr>
              <a:t>Attention,</a:t>
            </a:r>
            <a:r>
              <a:rPr sz="1650" spc="1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650" spc="1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55" dirty="0">
                <a:solidFill>
                  <a:srgbClr val="94A3B8"/>
                </a:solidFill>
                <a:latin typeface="Trebuchet MS"/>
                <a:cs typeface="Trebuchet MS"/>
              </a:rPr>
              <a:t>PCA-</a:t>
            </a:r>
            <a:r>
              <a:rPr sz="1650" spc="-30" dirty="0">
                <a:solidFill>
                  <a:srgbClr val="94A3B8"/>
                </a:solidFill>
                <a:latin typeface="Trebuchet MS"/>
                <a:cs typeface="Trebuchet MS"/>
              </a:rPr>
              <a:t>Baseline</a:t>
            </a:r>
            <a:r>
              <a:rPr sz="1650" spc="1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models.</a:t>
            </a:r>
            <a:endParaRPr sz="1650" dirty="0">
              <a:latin typeface="Trebuchet MS"/>
              <a:cs typeface="Trebuchet MS"/>
            </a:endParaRPr>
          </a:p>
          <a:p>
            <a:pPr marL="88900" marR="5080" indent="-88900">
              <a:lnSpc>
                <a:spcPct val="150000"/>
              </a:lnSpc>
              <a:spcBef>
                <a:spcPts val="135"/>
              </a:spcBef>
              <a:buSzPct val="69696"/>
              <a:buFont typeface="Trebuchet MS"/>
              <a:buChar char="•"/>
              <a:tabLst>
                <a:tab pos="88900" algn="l"/>
              </a:tabLst>
            </a:pPr>
            <a:r>
              <a:rPr sz="1650" b="1" spc="-70" dirty="0">
                <a:solidFill>
                  <a:srgbClr val="94A3B8"/>
                </a:solidFill>
                <a:latin typeface="Trebuchet MS"/>
                <a:cs typeface="Trebuchet MS"/>
              </a:rPr>
              <a:t>Production</a:t>
            </a:r>
            <a:r>
              <a:rPr sz="1650" b="1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1" spc="-30" dirty="0">
                <a:solidFill>
                  <a:srgbClr val="94A3B8"/>
                </a:solidFill>
                <a:latin typeface="Trebuchet MS"/>
                <a:cs typeface="Trebuchet MS"/>
              </a:rPr>
              <a:t>Grade:</a:t>
            </a:r>
            <a:r>
              <a:rPr sz="1650" b="1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114" dirty="0">
                <a:solidFill>
                  <a:srgbClr val="94A3B8"/>
                </a:solidFill>
                <a:latin typeface="Trebuchet MS"/>
                <a:cs typeface="Trebuchet MS"/>
              </a:rPr>
              <a:t>SQL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94A3B8"/>
                </a:solidFill>
                <a:latin typeface="Trebuchet MS"/>
                <a:cs typeface="Trebuchet MS"/>
              </a:rPr>
              <a:t>auditing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94A3B8"/>
                </a:solidFill>
                <a:latin typeface="Trebuchet MS"/>
                <a:cs typeface="Trebuchet MS"/>
              </a:rPr>
              <a:t>real-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time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inference via</a:t>
            </a:r>
            <a:r>
              <a:rPr sz="1650" spc="-10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Streamlit.</a:t>
            </a:r>
            <a:endParaRPr sz="1650" dirty="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MISSION</a:t>
            </a:r>
            <a:r>
              <a:rPr spc="-200" dirty="0"/>
              <a:t> </a:t>
            </a:r>
            <a:r>
              <a:rPr spc="114" dirty="0"/>
              <a:t>AND</a:t>
            </a:r>
            <a:r>
              <a:rPr spc="-200" dirty="0"/>
              <a:t> </a:t>
            </a:r>
            <a:r>
              <a:rPr spc="95" dirty="0"/>
              <a:t>SCOPE</a:t>
            </a:r>
          </a:p>
        </p:txBody>
      </p:sp>
      <p:sp>
        <p:nvSpPr>
          <p:cNvPr id="5" name="object 5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2554039"/>
            <a:ext cx="5276849" cy="263574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15975" y="3217173"/>
            <a:ext cx="1046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7A72"/>
                </a:solidFill>
                <a:latin typeface="Courier New"/>
                <a:cs typeface="Courier New"/>
              </a:rPr>
              <a:t>def</a:t>
            </a:r>
            <a:r>
              <a:rPr sz="1200" spc="90" dirty="0">
                <a:solidFill>
                  <a:srgbClr val="FF7A7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D1A8FF"/>
                </a:solidFill>
                <a:latin typeface="Courier New"/>
                <a:cs typeface="Courier New"/>
              </a:rPr>
              <a:t>init_db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5225" y="3430444"/>
            <a:ext cx="1976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1A8FF"/>
                </a:solidFill>
                <a:latin typeface="Courier New"/>
                <a:cs typeface="Courier New"/>
              </a:rPr>
              <a:t>connect</a:t>
            </a:r>
            <a:r>
              <a:rPr sz="1200" spc="180" dirty="0">
                <a:solidFill>
                  <a:srgbClr val="D1A8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A5D6FF"/>
                </a:solidFill>
                <a:latin typeface="Courier New"/>
                <a:cs typeface="Courier New"/>
              </a:rPr>
              <a:t>"research.db"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3225" y="3643715"/>
            <a:ext cx="665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D1A8FF"/>
                </a:solidFill>
                <a:latin typeface="Courier New"/>
                <a:cs typeface="Courier New"/>
              </a:rPr>
              <a:t>execute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975" y="3957291"/>
            <a:ext cx="359156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90"/>
              </a:lnSpc>
              <a:spcBef>
                <a:spcPts val="100"/>
              </a:spcBef>
            </a:pP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'''CREATE</a:t>
            </a:r>
            <a:r>
              <a:rPr sz="1200" spc="-5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TABLE</a:t>
            </a:r>
            <a:r>
              <a:rPr sz="1200" spc="-5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logs</a:t>
            </a:r>
            <a:r>
              <a:rPr sz="1200" spc="-50" dirty="0">
                <a:solidFill>
                  <a:srgbClr val="A5D6FF"/>
                </a:solidFill>
                <a:latin typeface="Courier New"/>
                <a:cs typeface="Courier New"/>
              </a:rPr>
              <a:t> (</a:t>
            </a:r>
            <a:endParaRPr sz="1200">
              <a:latin typeface="Courier New"/>
              <a:cs typeface="Courier New"/>
            </a:endParaRPr>
          </a:p>
          <a:p>
            <a:pPr marL="469900" marR="5080">
              <a:lnSpc>
                <a:spcPts val="1340"/>
              </a:lnSpc>
              <a:spcBef>
                <a:spcPts val="80"/>
              </a:spcBef>
            </a:pP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patient_id</a:t>
            </a:r>
            <a:r>
              <a:rPr sz="1200" spc="-65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INTEGER</a:t>
            </a:r>
            <a:r>
              <a:rPr sz="1200" spc="-65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PRIMARY</a:t>
            </a:r>
            <a:r>
              <a:rPr sz="1200" spc="-6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A5D6FF"/>
                </a:solidFill>
                <a:latin typeface="Courier New"/>
                <a:cs typeface="Courier New"/>
              </a:rPr>
              <a:t>KEY,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theta</a:t>
            </a:r>
            <a:r>
              <a:rPr sz="1200" spc="-4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REAL,</a:t>
            </a:r>
            <a:r>
              <a:rPr sz="1200" spc="-4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alpha</a:t>
            </a:r>
            <a:r>
              <a:rPr sz="1200" spc="-4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REAL,</a:t>
            </a:r>
            <a:r>
              <a:rPr sz="1200" spc="-4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beta</a:t>
            </a:r>
            <a:r>
              <a:rPr sz="1200" spc="-4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A5D6FF"/>
                </a:solidFill>
                <a:latin typeface="Courier New"/>
                <a:cs typeface="Courier New"/>
              </a:rPr>
              <a:t>REAL,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final_diagnosis</a:t>
            </a:r>
            <a:r>
              <a:rPr sz="1200" spc="-114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A5D6FF"/>
                </a:solidFill>
                <a:latin typeface="Courier New"/>
                <a:cs typeface="Courier New"/>
              </a:rPr>
              <a:t>TEXT,</a:t>
            </a:r>
            <a:endParaRPr sz="1200">
              <a:latin typeface="Courier New"/>
              <a:cs typeface="Courier New"/>
            </a:endParaRPr>
          </a:p>
          <a:p>
            <a:pPr marL="469900">
              <a:lnSpc>
                <a:spcPts val="1275"/>
              </a:lnSpc>
            </a:pP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confidence</a:t>
            </a:r>
            <a:r>
              <a:rPr sz="1200" spc="-8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A5D6FF"/>
                </a:solidFill>
                <a:latin typeface="Courier New"/>
                <a:cs typeface="Courier New"/>
              </a:rPr>
              <a:t>REAL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ts val="1390"/>
              </a:lnSpc>
            </a:pPr>
            <a:r>
              <a:rPr sz="1200" spc="-20" dirty="0">
                <a:solidFill>
                  <a:srgbClr val="A5D6FF"/>
                </a:solidFill>
                <a:latin typeface="Courier New"/>
                <a:cs typeface="Courier New"/>
              </a:rPr>
              <a:t>)'''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1425" y="2880529"/>
            <a:ext cx="5187950" cy="2030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60" dirty="0">
                <a:solidFill>
                  <a:srgbClr val="F1F4F9"/>
                </a:solidFill>
                <a:latin typeface="Trebuchet MS"/>
                <a:cs typeface="Trebuchet MS"/>
              </a:rPr>
              <a:t>Persistent</a:t>
            </a:r>
            <a:r>
              <a:rPr sz="1400" b="1" spc="-30" dirty="0">
                <a:solidFill>
                  <a:srgbClr val="F1F4F9"/>
                </a:solidFill>
                <a:latin typeface="Trebuchet MS"/>
                <a:cs typeface="Trebuchet MS"/>
              </a:rPr>
              <a:t> Clinical </a:t>
            </a:r>
            <a:r>
              <a:rPr sz="1400" b="1" spc="-20" dirty="0">
                <a:solidFill>
                  <a:srgbClr val="F1F4F9"/>
                </a:solidFill>
                <a:latin typeface="Trebuchet MS"/>
                <a:cs typeface="Trebuchet MS"/>
              </a:rPr>
              <a:t>Audit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init_db()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function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ensures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every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diagnostic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session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is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traceable.</a:t>
            </a:r>
            <a:endParaRPr sz="1650">
              <a:latin typeface="Trebuchet MS"/>
              <a:cs typeface="Trebuchet MS"/>
            </a:endParaRPr>
          </a:p>
          <a:p>
            <a:pPr marL="12700" marR="481330">
              <a:lnSpc>
                <a:spcPct val="150000"/>
              </a:lnSpc>
              <a:spcBef>
                <a:spcPts val="210"/>
              </a:spcBef>
            </a:pP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database</a:t>
            </a:r>
            <a:r>
              <a:rPr sz="1650" spc="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stores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 raw</a:t>
            </a:r>
            <a:r>
              <a:rPr sz="1650" spc="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EEG power</a:t>
            </a:r>
            <a:r>
              <a:rPr sz="1650" spc="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bands,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psychometric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scores,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65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1" spc="-35" dirty="0">
                <a:solidFill>
                  <a:srgbClr val="94A3B8"/>
                </a:solidFill>
                <a:latin typeface="Trebuchet MS"/>
                <a:cs typeface="Trebuchet MS"/>
              </a:rPr>
              <a:t>Confidence</a:t>
            </a:r>
            <a:r>
              <a:rPr sz="1650" b="1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1" spc="-25" dirty="0">
                <a:solidFill>
                  <a:srgbClr val="94A3B8"/>
                </a:solidFill>
                <a:latin typeface="Trebuchet MS"/>
                <a:cs typeface="Trebuchet MS"/>
              </a:rPr>
              <a:t>Index</a:t>
            </a:r>
            <a:r>
              <a:rPr sz="1650" b="1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for </a:t>
            </a:r>
            <a:r>
              <a:rPr sz="1650" spc="-30" dirty="0">
                <a:solidFill>
                  <a:srgbClr val="94A3B8"/>
                </a:solidFill>
                <a:latin typeface="Trebuchet MS"/>
                <a:cs typeface="Trebuchet MS"/>
              </a:rPr>
              <a:t>regulatory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research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auditing.</a:t>
            </a:r>
            <a:endParaRPr sz="165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5925" y="2801689"/>
            <a:ext cx="114299" cy="130640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65" dirty="0"/>
              <a:t>1.</a:t>
            </a:r>
            <a:r>
              <a:rPr spc="-204" dirty="0"/>
              <a:t> </a:t>
            </a:r>
            <a:r>
              <a:rPr spc="-10" dirty="0"/>
              <a:t>DATA</a:t>
            </a:r>
            <a:r>
              <a:rPr spc="-200" dirty="0"/>
              <a:t> </a:t>
            </a:r>
            <a:r>
              <a:rPr spc="-10" dirty="0"/>
              <a:t>ARCHITECTURE:</a:t>
            </a:r>
            <a:r>
              <a:rPr spc="-200" dirty="0"/>
              <a:t> </a:t>
            </a:r>
            <a:r>
              <a:rPr spc="145" dirty="0"/>
              <a:t>SQL</a:t>
            </a:r>
            <a:r>
              <a:rPr spc="-200" dirty="0"/>
              <a:t> </a:t>
            </a:r>
            <a:r>
              <a:rPr spc="-20" dirty="0"/>
              <a:t>NODE</a:t>
            </a:r>
          </a:p>
        </p:txBody>
      </p:sp>
      <p:sp>
        <p:nvSpPr>
          <p:cNvPr id="10" name="object 10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A78E66-C31B-728E-7A39-BDC57EBBB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25" y="551560"/>
            <a:ext cx="8261350" cy="507831"/>
          </a:xfrm>
        </p:spPr>
        <p:txBody>
          <a:bodyPr/>
          <a:lstStyle/>
          <a:p>
            <a:r>
              <a:rPr lang="en-IN" spc="-65" dirty="0"/>
              <a:t>Synthetic</a:t>
            </a:r>
            <a:r>
              <a:rPr lang="en-IN" spc="-204" dirty="0"/>
              <a:t> </a:t>
            </a:r>
            <a:r>
              <a:rPr lang="en-IN" spc="-80" dirty="0"/>
              <a:t>Research</a:t>
            </a:r>
            <a:r>
              <a:rPr lang="en-IN" spc="-200" dirty="0"/>
              <a:t> </a:t>
            </a:r>
            <a:r>
              <a:rPr lang="en-IN" dirty="0"/>
              <a:t>Dataset</a:t>
            </a:r>
            <a:r>
              <a:rPr lang="en-IN" spc="-200" dirty="0"/>
              <a:t> </a:t>
            </a:r>
            <a:r>
              <a:rPr lang="en-IN" spc="-10" dirty="0"/>
              <a:t>Matrix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18B83C48-9D29-BC47-4E46-CD52113C5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985825"/>
              </p:ext>
            </p:extLst>
          </p:nvPr>
        </p:nvGraphicFramePr>
        <p:xfrm>
          <a:off x="571500" y="2362200"/>
          <a:ext cx="11048999" cy="2997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9080">
                  <a:extLst>
                    <a:ext uri="{9D8B030D-6E8A-4147-A177-3AD203B41FA5}">
                      <a16:colId xmlns:a16="http://schemas.microsoft.com/office/drawing/2014/main" xmlns="" val="2871166150"/>
                    </a:ext>
                  </a:extLst>
                </a:gridCol>
                <a:gridCol w="2553335">
                  <a:extLst>
                    <a:ext uri="{9D8B030D-6E8A-4147-A177-3AD203B41FA5}">
                      <a16:colId xmlns:a16="http://schemas.microsoft.com/office/drawing/2014/main" xmlns="" val="1329382123"/>
                    </a:ext>
                  </a:extLst>
                </a:gridCol>
                <a:gridCol w="2374900">
                  <a:extLst>
                    <a:ext uri="{9D8B030D-6E8A-4147-A177-3AD203B41FA5}">
                      <a16:colId xmlns:a16="http://schemas.microsoft.com/office/drawing/2014/main" xmlns="" val="511994359"/>
                    </a:ext>
                  </a:extLst>
                </a:gridCol>
                <a:gridCol w="3321684">
                  <a:extLst>
                    <a:ext uri="{9D8B030D-6E8A-4147-A177-3AD203B41FA5}">
                      <a16:colId xmlns:a16="http://schemas.microsoft.com/office/drawing/2014/main" xmlns="" val="2252970101"/>
                    </a:ext>
                  </a:extLst>
                </a:gridCol>
              </a:tblGrid>
              <a:tr h="5899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500" b="1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EEG</a:t>
                      </a:r>
                      <a:r>
                        <a:rPr sz="1500" b="1" spc="-55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20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Metric</a:t>
                      </a:r>
                      <a:r>
                        <a:rPr sz="1500" b="1" spc="-55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(Theta/Alpha)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79070" marB="0">
                    <a:lnB w="1905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500" b="1" spc="-10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NEO-</a:t>
                      </a:r>
                      <a:r>
                        <a:rPr sz="1500" b="1" spc="-50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FFI</a:t>
                      </a:r>
                      <a:r>
                        <a:rPr sz="1500" b="1" spc="-75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Profile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79070" marB="0">
                    <a:lnB w="1905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500" b="1" spc="-35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Clinical</a:t>
                      </a:r>
                      <a:r>
                        <a:rPr sz="1500" b="1" spc="-50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(PHQ/GAD)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79070" marB="0">
                    <a:lnB w="1905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500" b="1" spc="-10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Diagnosis</a:t>
                      </a:r>
                      <a:r>
                        <a:rPr sz="1500" b="1" spc="-70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818CF7"/>
                          </a:solidFill>
                          <a:latin typeface="Trebuchet MS"/>
                          <a:cs typeface="Trebuchet MS"/>
                        </a:rPr>
                        <a:t>Prediction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79070" marB="0">
                    <a:lnB w="19050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933672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5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Theta:</a:t>
                      </a:r>
                      <a:r>
                        <a:rPr sz="1500" spc="-9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7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5.2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Hz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4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Alpha: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6.1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Hz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90500" marB="0">
                    <a:lnT w="19050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500" spc="-6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Neuroticism:</a:t>
                      </a:r>
                      <a:r>
                        <a:rPr sz="15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3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sz="15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(38)</a:t>
                      </a:r>
                      <a:endParaRPr sz="1500" dirty="0">
                        <a:latin typeface="Trebuchet MS"/>
                        <a:cs typeface="Trebuchet MS"/>
                      </a:endParaRPr>
                    </a:p>
                  </a:txBody>
                  <a:tcPr marL="0" marR="0" marT="190500" marB="0">
                    <a:lnT w="19050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500" spc="-5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PHQ9: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0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19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00" spc="-8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1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GAD7: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12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90500" marB="0">
                    <a:lnT w="19050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50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Major</a:t>
                      </a:r>
                      <a:r>
                        <a:rPr sz="1500" spc="-6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1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Depressive</a:t>
                      </a:r>
                      <a:r>
                        <a:rPr sz="1500" spc="-6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(MDD)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90500" marB="0">
                    <a:lnT w="19050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298867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5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Theta: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4.1</a:t>
                      </a:r>
                      <a:r>
                        <a:rPr sz="1500" spc="-9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Hz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4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Alpha: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9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5.8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Hz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500" spc="-6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Neuroticism:</a:t>
                      </a:r>
                      <a:r>
                        <a:rPr sz="1500" spc="-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Med</a:t>
                      </a:r>
                      <a:r>
                        <a:rPr sz="1500" spc="-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(28)</a:t>
                      </a:r>
                      <a:endParaRPr sz="1500" dirty="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500" spc="-5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PHQ9:</a:t>
                      </a:r>
                      <a:r>
                        <a:rPr sz="1500" spc="-6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08</a:t>
                      </a:r>
                      <a:r>
                        <a:rPr sz="1500" spc="-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00" spc="-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1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GAD7:</a:t>
                      </a:r>
                      <a:r>
                        <a:rPr sz="1500" spc="-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3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15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500" spc="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ADHD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Anxiety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Risk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8288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3860331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5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Theta: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7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4.5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Hz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4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Alpha: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9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8.2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Hz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8478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500" spc="-6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Neuroticism:</a:t>
                      </a:r>
                      <a:r>
                        <a:rPr sz="1500" spc="-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Low</a:t>
                      </a:r>
                      <a:r>
                        <a:rPr sz="1500" spc="-5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(18)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8478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500" spc="-5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PHQ9: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02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00" spc="-8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1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GAD7: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3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03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8478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r>
                        <a:rPr sz="1500" spc="-3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Healthy</a:t>
                      </a:r>
                      <a:r>
                        <a:rPr sz="1500" spc="-6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1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Control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84785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36632158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Theta:</a:t>
                      </a:r>
                      <a:r>
                        <a:rPr sz="1500" spc="-9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6.0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Hz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4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Alpha:</a:t>
                      </a:r>
                      <a:r>
                        <a:rPr sz="1500" spc="-9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7.0</a:t>
                      </a:r>
                      <a:r>
                        <a:rPr sz="1500" spc="-8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Hz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8669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00" spc="-6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Neuroticism:</a:t>
                      </a:r>
                      <a:r>
                        <a:rPr sz="15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3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sz="1500" spc="-5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(42)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8669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00" spc="-5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PHQ9:</a:t>
                      </a:r>
                      <a:r>
                        <a:rPr sz="1500" spc="-7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22</a:t>
                      </a:r>
                      <a:r>
                        <a:rPr sz="1500" spc="-7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6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500" spc="-7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1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GAD7:</a:t>
                      </a:r>
                      <a:r>
                        <a:rPr sz="1500" spc="-7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4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11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8669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50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Major</a:t>
                      </a:r>
                      <a:r>
                        <a:rPr sz="1500" spc="-6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1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Depressive</a:t>
                      </a:r>
                      <a:r>
                        <a:rPr sz="1500" spc="-65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spc="-20" dirty="0">
                          <a:solidFill>
                            <a:srgbClr val="CBD4E1"/>
                          </a:solidFill>
                          <a:latin typeface="Trebuchet MS"/>
                          <a:cs typeface="Trebuchet MS"/>
                        </a:rPr>
                        <a:t>(MDD)</a:t>
                      </a:r>
                      <a:endParaRPr sz="1500" dirty="0">
                        <a:latin typeface="Trebuchet MS"/>
                        <a:cs typeface="Trebuchet MS"/>
                      </a:endParaRPr>
                    </a:p>
                  </a:txBody>
                  <a:tcPr marL="0" marR="0" marT="186690" marB="0"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68493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20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2980580"/>
            <a:ext cx="5276849" cy="17826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8325" y="2723367"/>
            <a:ext cx="5100320" cy="2345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1F4F9"/>
                </a:solidFill>
                <a:latin typeface="Trebuchet MS"/>
                <a:cs typeface="Trebuchet MS"/>
              </a:rPr>
              <a:t>Matching</a:t>
            </a:r>
            <a:r>
              <a:rPr sz="1400" b="1" spc="10" dirty="0">
                <a:solidFill>
                  <a:srgbClr val="F1F4F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F1F4F9"/>
                </a:solidFill>
                <a:latin typeface="Trebuchet MS"/>
                <a:cs typeface="Trebuchet MS"/>
              </a:rPr>
              <a:t>Clinical</a:t>
            </a:r>
            <a:r>
              <a:rPr sz="1400" b="1" spc="10" dirty="0">
                <a:solidFill>
                  <a:srgbClr val="F1F4F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1F4F9"/>
                </a:solidFill>
                <a:latin typeface="Trebuchet MS"/>
                <a:cs typeface="Trebuchet MS"/>
              </a:rPr>
              <a:t>Patterns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generate_clinical_research_dataset()</a:t>
            </a:r>
            <a:r>
              <a:rPr sz="1650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function</a:t>
            </a:r>
            <a:endParaRPr sz="1650">
              <a:latin typeface="Trebuchet MS"/>
              <a:cs typeface="Trebuchet MS"/>
            </a:endParaRPr>
          </a:p>
          <a:p>
            <a:pPr marL="12700" marR="211454">
              <a:lnSpc>
                <a:spcPct val="150000"/>
              </a:lnSpc>
            </a:pP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creates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5" dirty="0">
                <a:solidFill>
                  <a:srgbClr val="94A3B8"/>
                </a:solidFill>
                <a:latin typeface="Trebuchet MS"/>
                <a:cs typeface="Trebuchet MS"/>
              </a:rPr>
              <a:t>1,500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samples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94A3B8"/>
                </a:solidFill>
                <a:latin typeface="Trebuchet MS"/>
                <a:cs typeface="Trebuchet MS"/>
              </a:rPr>
              <a:t>mimicking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real-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world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TDBRAIN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data</a:t>
            </a:r>
            <a:r>
              <a:rPr sz="1650" spc="3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patterns.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50" b="1" spc="-65" dirty="0">
                <a:solidFill>
                  <a:srgbClr val="94A3B8"/>
                </a:solidFill>
                <a:latin typeface="Trebuchet MS"/>
                <a:cs typeface="Trebuchet MS"/>
              </a:rPr>
              <a:t>Logic:</a:t>
            </a:r>
            <a:r>
              <a:rPr sz="1650" b="1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140" dirty="0">
                <a:solidFill>
                  <a:srgbClr val="94A3B8"/>
                </a:solidFill>
                <a:latin typeface="Trebuchet MS"/>
                <a:cs typeface="Trebuchet MS"/>
              </a:rPr>
              <a:t>MDD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is 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labeled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25" dirty="0">
                <a:solidFill>
                  <a:srgbClr val="94A3B8"/>
                </a:solidFill>
                <a:latin typeface="Trebuchet MS"/>
                <a:cs typeface="Trebuchet MS"/>
              </a:rPr>
              <a:t>if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PHQ-</a:t>
            </a:r>
            <a:r>
              <a:rPr sz="1650" spc="60" dirty="0">
                <a:solidFill>
                  <a:srgbClr val="94A3B8"/>
                </a:solidFill>
                <a:latin typeface="Trebuchet MS"/>
                <a:cs typeface="Trebuchet MS"/>
              </a:rPr>
              <a:t>9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85" dirty="0">
                <a:solidFill>
                  <a:srgbClr val="94A3B8"/>
                </a:solidFill>
                <a:latin typeface="Trebuchet MS"/>
                <a:cs typeface="Trebuchet MS"/>
              </a:rPr>
              <a:t>&gt;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10" dirty="0">
                <a:solidFill>
                  <a:srgbClr val="94A3B8"/>
                </a:solidFill>
                <a:latin typeface="Trebuchet MS"/>
                <a:cs typeface="Trebuchet MS"/>
              </a:rPr>
              <a:t>14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Theta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activity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is</a:t>
            </a:r>
            <a:endParaRPr sz="1650">
              <a:latin typeface="Trebuchet MS"/>
              <a:cs typeface="Trebuchet MS"/>
            </a:endParaRPr>
          </a:p>
          <a:p>
            <a:pPr marL="12700" marR="267970">
              <a:lnSpc>
                <a:spcPct val="150000"/>
              </a:lnSpc>
            </a:pP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elevated.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60" dirty="0">
                <a:solidFill>
                  <a:srgbClr val="94A3B8"/>
                </a:solidFill>
                <a:latin typeface="Trebuchet MS"/>
                <a:cs typeface="Trebuchet MS"/>
              </a:rPr>
              <a:t>ADHD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is 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labeled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25" dirty="0">
                <a:solidFill>
                  <a:srgbClr val="94A3B8"/>
                </a:solidFill>
                <a:latin typeface="Trebuchet MS"/>
                <a:cs typeface="Trebuchet MS"/>
              </a:rPr>
              <a:t>if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80" dirty="0">
                <a:solidFill>
                  <a:srgbClr val="94A3B8"/>
                </a:solidFill>
                <a:latin typeface="Trebuchet MS"/>
                <a:cs typeface="Trebuchet MS"/>
              </a:rPr>
              <a:t>GAD-</a:t>
            </a:r>
            <a:r>
              <a:rPr sz="1650" spc="75" dirty="0">
                <a:solidFill>
                  <a:srgbClr val="94A3B8"/>
                </a:solidFill>
                <a:latin typeface="Trebuchet MS"/>
                <a:cs typeface="Trebuchet MS"/>
              </a:rPr>
              <a:t>7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is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high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Alpha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power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is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low.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9075" y="3643715"/>
            <a:ext cx="2082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7A72"/>
                </a:solidFill>
                <a:latin typeface="Courier New"/>
                <a:cs typeface="Courier New"/>
              </a:rPr>
              <a:t>if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21825" y="3643715"/>
            <a:ext cx="29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A5D6FF"/>
                </a:solidFill>
                <a:latin typeface="Courier New"/>
                <a:cs typeface="Courier New"/>
              </a:rPr>
              <a:t>5.0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26325" y="3613324"/>
            <a:ext cx="966469" cy="4521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340"/>
              </a:spcBef>
            </a:pP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14</a:t>
            </a:r>
            <a:r>
              <a:rPr sz="1200" spc="7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F7A72"/>
                </a:solidFill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dirty="0">
                <a:solidFill>
                  <a:srgbClr val="D1A8FF"/>
                </a:solidFill>
                <a:latin typeface="Courier New"/>
                <a:cs typeface="Courier New"/>
              </a:rPr>
              <a:t>append</a:t>
            </a:r>
            <a:r>
              <a:rPr sz="1200" spc="160" dirty="0">
                <a:solidFill>
                  <a:srgbClr val="D1A8FF"/>
                </a:solidFill>
                <a:latin typeface="Courier New"/>
                <a:cs typeface="Courier New"/>
              </a:rPr>
              <a:t> </a:t>
            </a:r>
            <a:r>
              <a:rPr sz="1200" spc="-60" dirty="0">
                <a:solidFill>
                  <a:srgbClr val="A5D6FF"/>
                </a:solidFill>
                <a:latin typeface="Courier New"/>
                <a:cs typeface="Courier New"/>
              </a:rPr>
              <a:t>1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8825" y="3856985"/>
            <a:ext cx="1397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#</a:t>
            </a:r>
            <a:r>
              <a:rPr sz="1200" spc="-20" dirty="0">
                <a:solidFill>
                  <a:srgbClr val="8B949E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MDD</a:t>
            </a:r>
            <a:r>
              <a:rPr sz="1200" spc="-20" dirty="0">
                <a:solidFill>
                  <a:srgbClr val="8B949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B949E"/>
                </a:solidFill>
                <a:latin typeface="Courier New"/>
                <a:cs typeface="Courier New"/>
              </a:rPr>
              <a:t>Detection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69075" y="4070255"/>
            <a:ext cx="391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7A72"/>
                </a:solidFill>
                <a:latin typeface="Courier New"/>
                <a:cs typeface="Courier New"/>
              </a:rPr>
              <a:t>elif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12325" y="4070255"/>
            <a:ext cx="29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A5D6FF"/>
                </a:solidFill>
                <a:latin typeface="Courier New"/>
                <a:cs typeface="Courier New"/>
              </a:rPr>
              <a:t>6.5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6325" y="4039865"/>
            <a:ext cx="1983739" cy="4521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340"/>
              </a:spcBef>
            </a:pP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11</a:t>
            </a:r>
            <a:r>
              <a:rPr sz="1200" spc="70" dirty="0">
                <a:solidFill>
                  <a:srgbClr val="A5D6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F7A72"/>
                </a:solidFill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200" dirty="0">
                <a:solidFill>
                  <a:srgbClr val="D1A8FF"/>
                </a:solidFill>
                <a:latin typeface="Courier New"/>
                <a:cs typeface="Courier New"/>
              </a:rPr>
              <a:t>append</a:t>
            </a:r>
            <a:r>
              <a:rPr sz="1200" spc="180" dirty="0">
                <a:solidFill>
                  <a:srgbClr val="D1A8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A5D6FF"/>
                </a:solidFill>
                <a:latin typeface="Courier New"/>
                <a:cs typeface="Courier New"/>
              </a:rPr>
              <a:t>2</a:t>
            </a:r>
            <a:r>
              <a:rPr sz="1200" spc="25" dirty="0">
                <a:solidFill>
                  <a:srgbClr val="A5D6FF"/>
                </a:solidFill>
                <a:latin typeface="Courier New"/>
                <a:cs typeface="Courier New"/>
              </a:rPr>
              <a:t>  </a:t>
            </a: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#</a:t>
            </a:r>
            <a:r>
              <a:rPr sz="1200" spc="-20" dirty="0">
                <a:solidFill>
                  <a:srgbClr val="8B949E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ADHD</a:t>
            </a:r>
            <a:r>
              <a:rPr sz="1200" spc="-20" dirty="0">
                <a:solidFill>
                  <a:srgbClr val="8B949E"/>
                </a:solidFill>
                <a:latin typeface="Courier New"/>
                <a:cs typeface="Courier New"/>
              </a:rPr>
              <a:t> Risk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9025" y="3237117"/>
            <a:ext cx="114299" cy="124419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2.</a:t>
            </a:r>
            <a:r>
              <a:rPr spc="-190" dirty="0"/>
              <a:t> </a:t>
            </a:r>
            <a:r>
              <a:rPr spc="50" dirty="0"/>
              <a:t>SYNTHETIC</a:t>
            </a:r>
            <a:r>
              <a:rPr spc="-190" dirty="0"/>
              <a:t> </a:t>
            </a:r>
            <a:r>
              <a:rPr spc="55" dirty="0"/>
              <a:t>CLINICAL</a:t>
            </a:r>
            <a:r>
              <a:rPr spc="-185" dirty="0"/>
              <a:t> </a:t>
            </a:r>
            <a:r>
              <a:rPr spc="120" dirty="0"/>
              <a:t>MATRIX</a:t>
            </a:r>
          </a:p>
        </p:txBody>
      </p:sp>
      <p:sp>
        <p:nvSpPr>
          <p:cNvPr id="13" name="object 13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1857375"/>
            <a:ext cx="11029949" cy="33337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06207" y="5551042"/>
            <a:ext cx="557911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i="1" dirty="0">
                <a:solidFill>
                  <a:srgbClr val="94A3B8"/>
                </a:solidFill>
                <a:latin typeface="Trebuchet MS"/>
                <a:cs typeface="Trebuchet MS"/>
              </a:rPr>
              <a:t>Based</a:t>
            </a:r>
            <a:r>
              <a:rPr sz="1650" i="1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i="1" dirty="0">
                <a:solidFill>
                  <a:srgbClr val="94A3B8"/>
                </a:solidFill>
                <a:latin typeface="Trebuchet MS"/>
                <a:cs typeface="Trebuchet MS"/>
              </a:rPr>
              <a:t>on</a:t>
            </a:r>
            <a:r>
              <a:rPr sz="1650" i="1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i="1" spc="-45" dirty="0">
                <a:solidFill>
                  <a:srgbClr val="94A3B8"/>
                </a:solidFill>
                <a:latin typeface="Trebuchet MS"/>
                <a:cs typeface="Trebuchet MS"/>
              </a:rPr>
              <a:t>simulated</a:t>
            </a:r>
            <a:r>
              <a:rPr sz="1650" i="1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i="1" spc="-50" dirty="0">
                <a:solidFill>
                  <a:srgbClr val="94A3B8"/>
                </a:solidFill>
                <a:latin typeface="Trebuchet MS"/>
                <a:cs typeface="Trebuchet MS"/>
              </a:rPr>
              <a:t>patient</a:t>
            </a:r>
            <a:r>
              <a:rPr sz="1650" i="1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i="1" spc="-45" dirty="0">
                <a:solidFill>
                  <a:srgbClr val="94A3B8"/>
                </a:solidFill>
                <a:latin typeface="Trebuchet MS"/>
                <a:cs typeface="Trebuchet MS"/>
              </a:rPr>
              <a:t>logic</a:t>
            </a:r>
            <a:r>
              <a:rPr sz="1650" i="1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i="1" spc="-40" dirty="0">
                <a:solidFill>
                  <a:srgbClr val="94A3B8"/>
                </a:solidFill>
                <a:latin typeface="Trebuchet MS"/>
                <a:cs typeface="Trebuchet MS"/>
              </a:rPr>
              <a:t>from</a:t>
            </a:r>
            <a:r>
              <a:rPr sz="1650" i="1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i="1" spc="-55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i="1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i="1" spc="-30" dirty="0">
                <a:solidFill>
                  <a:srgbClr val="94A3B8"/>
                </a:solidFill>
                <a:latin typeface="Trebuchet MS"/>
                <a:cs typeface="Trebuchet MS"/>
              </a:rPr>
              <a:t>generation</a:t>
            </a:r>
            <a:r>
              <a:rPr sz="1650" i="1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i="1" spc="-20" dirty="0">
                <a:solidFill>
                  <a:srgbClr val="94A3B8"/>
                </a:solidFill>
                <a:latin typeface="Trebuchet MS"/>
                <a:cs typeface="Trebuchet MS"/>
              </a:rPr>
              <a:t>engine.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33882" y="2990780"/>
            <a:ext cx="2637155" cy="111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Healthy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CBD4E1"/>
                </a:solidFill>
                <a:latin typeface="Trebuchet MS"/>
                <a:cs typeface="Trebuchet MS"/>
              </a:rPr>
              <a:t>Control</a:t>
            </a:r>
            <a:r>
              <a:rPr sz="1500" spc="-6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(60%)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87500"/>
              </a:lnSpc>
            </a:pP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Major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Depressive</a:t>
            </a:r>
            <a:r>
              <a:rPr sz="1500" spc="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(MDD)</a:t>
            </a:r>
            <a:r>
              <a:rPr sz="1500" spc="5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CBD4E1"/>
                </a:solidFill>
                <a:latin typeface="Trebuchet MS"/>
                <a:cs typeface="Trebuchet MS"/>
              </a:rPr>
              <a:t>(25%) </a:t>
            </a:r>
            <a:r>
              <a:rPr sz="1500" spc="50" dirty="0">
                <a:solidFill>
                  <a:srgbClr val="CBD4E1"/>
                </a:solidFill>
                <a:latin typeface="Trebuchet MS"/>
                <a:cs typeface="Trebuchet MS"/>
              </a:rPr>
              <a:t>ADHD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60" dirty="0">
                <a:solidFill>
                  <a:srgbClr val="CBD4E1"/>
                </a:solidFill>
                <a:latin typeface="Trebuchet MS"/>
                <a:cs typeface="Trebuchet MS"/>
              </a:rPr>
              <a:t>/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CBD4E1"/>
                </a:solidFill>
                <a:latin typeface="Trebuchet MS"/>
                <a:cs typeface="Trebuchet MS"/>
              </a:rPr>
              <a:t>Anxiety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CBD4E1"/>
                </a:solidFill>
                <a:latin typeface="Trebuchet MS"/>
                <a:cs typeface="Trebuchet MS"/>
              </a:rPr>
              <a:t>Spectrum</a:t>
            </a:r>
            <a:r>
              <a:rPr sz="1500" spc="-60" dirty="0">
                <a:solidFill>
                  <a:srgbClr val="CBD4E1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CBD4E1"/>
                </a:solidFill>
                <a:latin typeface="Trebuchet MS"/>
                <a:cs typeface="Trebuchet MS"/>
              </a:rPr>
              <a:t>(15%)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672261" y="3009900"/>
            <a:ext cx="171450" cy="1028700"/>
            <a:chOff x="6672261" y="3009900"/>
            <a:chExt cx="171450" cy="10287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2261" y="3009900"/>
              <a:ext cx="171449" cy="1714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2261" y="3438525"/>
              <a:ext cx="171449" cy="1714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2261" y="3867150"/>
              <a:ext cx="171449" cy="171449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58825" y="551560"/>
            <a:ext cx="653288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CLINICAL</a:t>
            </a:r>
            <a:r>
              <a:rPr spc="30" dirty="0"/>
              <a:t> </a:t>
            </a:r>
            <a:r>
              <a:rPr dirty="0"/>
              <a:t>DISTRIBUTION</a:t>
            </a:r>
            <a:r>
              <a:rPr spc="30" dirty="0"/>
              <a:t> </a:t>
            </a:r>
            <a:r>
              <a:rPr spc="-90" dirty="0"/>
              <a:t>(N=1500)</a:t>
            </a:r>
          </a:p>
        </p:txBody>
      </p:sp>
      <p:sp>
        <p:nvSpPr>
          <p:cNvPr id="10" name="object 10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2980580"/>
            <a:ext cx="5276849" cy="17826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673475" y="4070255"/>
            <a:ext cx="299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D1A8FF"/>
                </a:solidFill>
                <a:latin typeface="Courier New"/>
                <a:cs typeface="Courier New"/>
              </a:rPr>
              <a:t>max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975" y="3613324"/>
            <a:ext cx="267716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0950" marR="5080" indent="-1238250">
              <a:lnSpc>
                <a:spcPct val="116599"/>
              </a:lnSpc>
              <a:spcBef>
                <a:spcPts val="100"/>
              </a:spcBef>
            </a:pP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#</a:t>
            </a:r>
            <a:r>
              <a:rPr sz="1200" spc="-35" dirty="0">
                <a:solidFill>
                  <a:srgbClr val="8B949E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Emulator</a:t>
            </a:r>
            <a:r>
              <a:rPr sz="1200" spc="-30" dirty="0">
                <a:solidFill>
                  <a:srgbClr val="8B949E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for</a:t>
            </a:r>
            <a:r>
              <a:rPr sz="1200" spc="-30" dirty="0">
                <a:solidFill>
                  <a:srgbClr val="8B949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B949E"/>
                </a:solidFill>
                <a:latin typeface="Courier New"/>
                <a:cs typeface="Courier New"/>
              </a:rPr>
              <a:t>1D-</a:t>
            </a: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CNN</a:t>
            </a:r>
            <a:r>
              <a:rPr sz="1200" spc="-30" dirty="0">
                <a:solidFill>
                  <a:srgbClr val="8B949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B949E"/>
                </a:solidFill>
                <a:latin typeface="Courier New"/>
                <a:cs typeface="Courier New"/>
              </a:rPr>
              <a:t>Filters </a:t>
            </a:r>
            <a:r>
              <a:rPr sz="1200" spc="-25" dirty="0">
                <a:solidFill>
                  <a:srgbClr val="D1A8FF"/>
                </a:solidFill>
                <a:latin typeface="Courier New"/>
                <a:cs typeface="Courier New"/>
              </a:rPr>
              <a:t>dot</a:t>
            </a:r>
            <a:endParaRPr sz="1200">
              <a:latin typeface="Courier New"/>
              <a:cs typeface="Courier New"/>
            </a:endParaRPr>
          </a:p>
          <a:p>
            <a:pPr marL="1250950">
              <a:lnSpc>
                <a:spcPct val="100000"/>
              </a:lnSpc>
              <a:spcBef>
                <a:spcPts val="240"/>
              </a:spcBef>
            </a:pPr>
            <a:r>
              <a:rPr sz="1200" spc="-25" dirty="0">
                <a:solidFill>
                  <a:srgbClr val="D1A8FF"/>
                </a:solidFill>
                <a:latin typeface="Courier New"/>
                <a:cs typeface="Courier New"/>
              </a:rPr>
              <a:t>exp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  <a:tabLst>
                <a:tab pos="1917064" algn="l"/>
              </a:tabLst>
            </a:pPr>
            <a:r>
              <a:rPr sz="1200" spc="-10" dirty="0">
                <a:solidFill>
                  <a:srgbClr val="FF7A72"/>
                </a:solidFill>
                <a:latin typeface="Courier New"/>
                <a:cs typeface="Courier New"/>
              </a:rPr>
              <a:t>return</a:t>
            </a:r>
            <a:r>
              <a:rPr sz="1200" dirty="0">
                <a:solidFill>
                  <a:srgbClr val="FF7A72"/>
                </a:solidFill>
                <a:latin typeface="Courier New"/>
                <a:cs typeface="Courier New"/>
              </a:rPr>
              <a:t>	</a:t>
            </a:r>
            <a:r>
              <a:rPr sz="1200" spc="-25" dirty="0">
                <a:solidFill>
                  <a:srgbClr val="D1A8FF"/>
                </a:solidFill>
                <a:latin typeface="Courier New"/>
                <a:cs typeface="Courier New"/>
              </a:rPr>
              <a:t>sum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Spectral</a:t>
            </a:r>
            <a:r>
              <a:rPr spc="-65" dirty="0"/>
              <a:t> Feature </a:t>
            </a:r>
            <a:r>
              <a:rPr spc="35" dirty="0"/>
              <a:t>Mapping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b="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Simulated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CNN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 Inception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class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20" dirty="0">
                <a:solidFill>
                  <a:srgbClr val="94A3B8"/>
                </a:solidFill>
                <a:latin typeface="Trebuchet MS"/>
                <a:cs typeface="Trebuchet MS"/>
              </a:rPr>
              <a:t>emulates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high-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order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50" b="0" spc="-40" dirty="0">
                <a:solidFill>
                  <a:srgbClr val="94A3B8"/>
                </a:solidFill>
                <a:latin typeface="Trebuchet MS"/>
                <a:cs typeface="Trebuchet MS"/>
              </a:rPr>
              <a:t>feature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mapping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used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0" dirty="0">
                <a:solidFill>
                  <a:srgbClr val="94A3B8"/>
                </a:solidFill>
                <a:latin typeface="Trebuchet MS"/>
                <a:cs typeface="Trebuchet MS"/>
              </a:rPr>
              <a:t>in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 Inception</a:t>
            </a:r>
            <a:r>
              <a:rPr sz="1650" b="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35" dirty="0">
                <a:solidFill>
                  <a:srgbClr val="94A3B8"/>
                </a:solidFill>
                <a:latin typeface="Trebuchet MS"/>
                <a:cs typeface="Trebuchet MS"/>
              </a:rPr>
              <a:t>Time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architectures.</a:t>
            </a:r>
            <a:endParaRPr sz="1650">
              <a:latin typeface="Trebuchet MS"/>
              <a:cs typeface="Trebuchet MS"/>
            </a:endParaRPr>
          </a:p>
          <a:p>
            <a:pPr marL="12700" marR="155575">
              <a:lnSpc>
                <a:spcPct val="150000"/>
              </a:lnSpc>
              <a:spcBef>
                <a:spcPts val="210"/>
              </a:spcBef>
            </a:pPr>
            <a:r>
              <a:rPr sz="1650" b="0" spc="-100" dirty="0">
                <a:solidFill>
                  <a:srgbClr val="94A3B8"/>
                </a:solidFill>
                <a:latin typeface="Trebuchet MS"/>
                <a:cs typeface="Trebuchet MS"/>
              </a:rPr>
              <a:t>It</a:t>
            </a:r>
            <a:r>
              <a:rPr sz="1650" b="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uses</a:t>
            </a:r>
            <a:r>
              <a:rPr sz="1650" b="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50" dirty="0">
                <a:solidFill>
                  <a:srgbClr val="94A3B8"/>
                </a:solidFill>
                <a:latin typeface="Trebuchet MS"/>
                <a:cs typeface="Trebuchet MS"/>
              </a:rPr>
              <a:t>deterministic</a:t>
            </a:r>
            <a:r>
              <a:rPr sz="1650" b="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65" dirty="0">
                <a:solidFill>
                  <a:srgbClr val="94A3B8"/>
                </a:solidFill>
                <a:latin typeface="Trebuchet MS"/>
                <a:cs typeface="Trebuchet MS"/>
              </a:rPr>
              <a:t>kernel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weights</a:t>
            </a:r>
            <a:r>
              <a:rPr sz="1650" b="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to</a:t>
            </a:r>
            <a:r>
              <a:rPr sz="1650" b="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60" dirty="0">
                <a:solidFill>
                  <a:srgbClr val="94A3B8"/>
                </a:solidFill>
                <a:latin typeface="Trebuchet MS"/>
                <a:cs typeface="Trebuchet MS"/>
              </a:rPr>
              <a:t>identify</a:t>
            </a:r>
            <a:r>
              <a:rPr sz="1650" b="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patterns </a:t>
            </a:r>
            <a:r>
              <a:rPr sz="1650" b="0" spc="-65" dirty="0">
                <a:solidFill>
                  <a:srgbClr val="94A3B8"/>
                </a:solidFill>
                <a:latin typeface="Trebuchet MS"/>
                <a:cs typeface="Trebuchet MS"/>
              </a:rPr>
              <a:t>within</a:t>
            </a:r>
            <a:r>
              <a:rPr sz="1650" b="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4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b="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EEG</a:t>
            </a:r>
            <a:r>
              <a:rPr sz="1650" b="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25" dirty="0">
                <a:solidFill>
                  <a:srgbClr val="94A3B8"/>
                </a:solidFill>
                <a:latin typeface="Trebuchet MS"/>
                <a:cs typeface="Trebuchet MS"/>
              </a:rPr>
              <a:t>spectral</a:t>
            </a:r>
            <a:r>
              <a:rPr sz="1650" b="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25" dirty="0">
                <a:solidFill>
                  <a:srgbClr val="94A3B8"/>
                </a:solidFill>
                <a:latin typeface="Trebuchet MS"/>
                <a:cs typeface="Trebuchet MS"/>
              </a:rPr>
              <a:t>frequency</a:t>
            </a:r>
            <a:r>
              <a:rPr sz="1650" b="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bands.</a:t>
            </a:r>
            <a:endParaRPr sz="16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76875" y="3228230"/>
            <a:ext cx="133349" cy="13330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3.</a:t>
            </a:r>
            <a:r>
              <a:rPr spc="-175" dirty="0"/>
              <a:t> </a:t>
            </a:r>
            <a:r>
              <a:rPr dirty="0"/>
              <a:t>ENGINE</a:t>
            </a:r>
            <a:r>
              <a:rPr spc="-175" dirty="0"/>
              <a:t> </a:t>
            </a:r>
            <a:r>
              <a:rPr spc="-50" dirty="0"/>
              <a:t>ALPHA:</a:t>
            </a:r>
            <a:r>
              <a:rPr spc="-170" dirty="0"/>
              <a:t> </a:t>
            </a:r>
            <a:r>
              <a:rPr spc="80" dirty="0"/>
              <a:t>CNN</a:t>
            </a:r>
            <a:r>
              <a:rPr spc="-175" dirty="0"/>
              <a:t> </a:t>
            </a:r>
            <a:r>
              <a:rPr spc="-10" dirty="0"/>
              <a:t>INCEPTION</a:t>
            </a:r>
          </a:p>
        </p:txBody>
      </p:sp>
      <p:sp>
        <p:nvSpPr>
          <p:cNvPr id="8" name="object 8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2980580"/>
            <a:ext cx="5276849" cy="17826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8325" y="2880529"/>
            <a:ext cx="4777105" cy="495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1F4F9"/>
                </a:solidFill>
                <a:latin typeface="Trebuchet MS"/>
                <a:cs typeface="Trebuchet MS"/>
              </a:rPr>
              <a:t>Contextual</a:t>
            </a:r>
            <a:r>
              <a:rPr sz="1400" b="1" spc="-55" dirty="0">
                <a:solidFill>
                  <a:srgbClr val="F1F4F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1F4F9"/>
                </a:solidFill>
                <a:latin typeface="Trebuchet MS"/>
                <a:cs typeface="Trebuchet MS"/>
              </a:rPr>
              <a:t>Prioritization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spc="-8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Simulated</a:t>
            </a:r>
            <a:r>
              <a:rPr sz="1650" spc="-8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RNN</a:t>
            </a:r>
            <a:r>
              <a:rPr sz="165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Attention</a:t>
            </a:r>
            <a:r>
              <a:rPr sz="1650" spc="-8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class</a:t>
            </a:r>
            <a:r>
              <a:rPr sz="165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mimics</a:t>
            </a:r>
            <a:r>
              <a:rPr sz="1650" spc="-8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recurrent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8325" y="3475544"/>
            <a:ext cx="4738370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states</a:t>
            </a:r>
            <a:r>
              <a:rPr sz="165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with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90" dirty="0">
                <a:solidFill>
                  <a:srgbClr val="94A3B8"/>
                </a:solidFill>
                <a:latin typeface="Trebuchet MS"/>
                <a:cs typeface="Trebuchet MS"/>
              </a:rPr>
              <a:t>a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dynamic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94A3B8"/>
                </a:solidFill>
                <a:latin typeface="Trebuchet MS"/>
                <a:cs typeface="Trebuchet MS"/>
              </a:rPr>
              <a:t>Alignment</a:t>
            </a:r>
            <a:r>
              <a:rPr sz="1650" b="1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94A3B8"/>
                </a:solidFill>
                <a:latin typeface="Trebuchet MS"/>
                <a:cs typeface="Trebuchet MS"/>
              </a:rPr>
              <a:t>Vector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.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210"/>
              </a:spcBef>
            </a:pPr>
            <a:r>
              <a:rPr sz="1650" spc="-100" dirty="0">
                <a:solidFill>
                  <a:srgbClr val="94A3B8"/>
                </a:solidFill>
                <a:latin typeface="Trebuchet MS"/>
                <a:cs typeface="Trebuchet MS"/>
              </a:rPr>
              <a:t>It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applies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higher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weights</a:t>
            </a:r>
            <a:r>
              <a:rPr sz="165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to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PHQ-</a:t>
            </a:r>
            <a:r>
              <a:rPr sz="1650" spc="60" dirty="0">
                <a:solidFill>
                  <a:srgbClr val="94A3B8"/>
                </a:solidFill>
                <a:latin typeface="Trebuchet MS"/>
                <a:cs typeface="Trebuchet MS"/>
              </a:rPr>
              <a:t>9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(Depression)</a:t>
            </a:r>
            <a:r>
              <a:rPr sz="165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and </a:t>
            </a:r>
            <a:r>
              <a:rPr sz="1650" spc="80" dirty="0">
                <a:solidFill>
                  <a:srgbClr val="94A3B8"/>
                </a:solidFill>
                <a:latin typeface="Trebuchet MS"/>
                <a:cs typeface="Trebuchet MS"/>
              </a:rPr>
              <a:t>GAD-</a:t>
            </a:r>
            <a:r>
              <a:rPr sz="1650" spc="75" dirty="0">
                <a:solidFill>
                  <a:srgbClr val="94A3B8"/>
                </a:solidFill>
                <a:latin typeface="Trebuchet MS"/>
                <a:cs typeface="Trebuchet MS"/>
              </a:rPr>
              <a:t>7</a:t>
            </a:r>
            <a:r>
              <a:rPr sz="1650" spc="-8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94A3B8"/>
                </a:solidFill>
                <a:latin typeface="Trebuchet MS"/>
                <a:cs typeface="Trebuchet MS"/>
              </a:rPr>
              <a:t>(Anxiety)</a:t>
            </a:r>
            <a:r>
              <a:rPr sz="165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scores,</a:t>
            </a:r>
            <a:r>
              <a:rPr sz="165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94A3B8"/>
                </a:solidFill>
                <a:latin typeface="Trebuchet MS"/>
                <a:cs typeface="Trebuchet MS"/>
              </a:rPr>
              <a:t>allowing</a:t>
            </a:r>
            <a:r>
              <a:rPr sz="1650" spc="-8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model</a:t>
            </a:r>
            <a:r>
              <a:rPr sz="165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to</a:t>
            </a:r>
            <a:r>
              <a:rPr sz="165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25" dirty="0">
                <a:solidFill>
                  <a:srgbClr val="94A3B8"/>
                </a:solidFill>
                <a:latin typeface="Trebuchet MS"/>
                <a:cs typeface="Trebuchet MS"/>
              </a:rPr>
              <a:t>pay </a:t>
            </a:r>
            <a:r>
              <a:rPr sz="1650" spc="-65" dirty="0">
                <a:solidFill>
                  <a:srgbClr val="94A3B8"/>
                </a:solidFill>
                <a:latin typeface="Trebuchet MS"/>
                <a:cs typeface="Trebuchet MS"/>
              </a:rPr>
              <a:t>"Attention" 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to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critical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94A3B8"/>
                </a:solidFill>
                <a:latin typeface="Trebuchet MS"/>
                <a:cs typeface="Trebuchet MS"/>
              </a:rPr>
              <a:t>behavioral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triggers.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9075" y="3643715"/>
            <a:ext cx="2585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#</a:t>
            </a:r>
            <a:r>
              <a:rPr sz="1200" spc="-50" dirty="0">
                <a:solidFill>
                  <a:srgbClr val="8B949E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Attention</a:t>
            </a:r>
            <a:r>
              <a:rPr sz="1200" spc="-50" dirty="0">
                <a:solidFill>
                  <a:srgbClr val="8B949E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B949E"/>
                </a:solidFill>
                <a:latin typeface="Courier New"/>
                <a:cs typeface="Courier New"/>
              </a:rPr>
              <a:t>weighted</a:t>
            </a:r>
            <a:r>
              <a:rPr sz="1200" spc="-50" dirty="0">
                <a:solidFill>
                  <a:srgbClr val="8B949E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B949E"/>
                </a:solidFill>
                <a:latin typeface="Courier New"/>
                <a:cs typeface="Courier New"/>
              </a:rPr>
              <a:t>context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9075" y="4039865"/>
            <a:ext cx="1442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43000">
              <a:lnSpc>
                <a:spcPct val="116599"/>
              </a:lnSpc>
              <a:spcBef>
                <a:spcPts val="100"/>
              </a:spcBef>
            </a:pPr>
            <a:r>
              <a:rPr sz="1200" spc="-25" dirty="0">
                <a:solidFill>
                  <a:srgbClr val="D1A8FF"/>
                </a:solidFill>
                <a:latin typeface="Courier New"/>
                <a:cs typeface="Courier New"/>
              </a:rPr>
              <a:t>dot </a:t>
            </a:r>
            <a:r>
              <a:rPr sz="1200" dirty="0">
                <a:solidFill>
                  <a:srgbClr val="FF7A72"/>
                </a:solidFill>
                <a:latin typeface="Courier New"/>
                <a:cs typeface="Courier New"/>
              </a:rPr>
              <a:t>return</a:t>
            </a:r>
            <a:r>
              <a:rPr sz="1200" spc="160" dirty="0">
                <a:solidFill>
                  <a:srgbClr val="FF7A7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D1A8FF"/>
                </a:solidFill>
                <a:latin typeface="Courier New"/>
                <a:cs typeface="Courier New"/>
              </a:rPr>
              <a:t>softmax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91875" y="3237117"/>
            <a:ext cx="161924" cy="12441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4.</a:t>
            </a:r>
            <a:r>
              <a:rPr spc="-180" dirty="0"/>
              <a:t> </a:t>
            </a:r>
            <a:r>
              <a:rPr dirty="0"/>
              <a:t>ENGINE</a:t>
            </a:r>
            <a:r>
              <a:rPr spc="-175" dirty="0"/>
              <a:t> </a:t>
            </a:r>
            <a:r>
              <a:rPr spc="-130" dirty="0"/>
              <a:t>BETA:</a:t>
            </a:r>
            <a:r>
              <a:rPr spc="-175" dirty="0"/>
              <a:t> </a:t>
            </a:r>
            <a:r>
              <a:rPr spc="-10" dirty="0"/>
              <a:t>RNN</a:t>
            </a:r>
            <a:r>
              <a:rPr spc="-175" dirty="0"/>
              <a:t> </a:t>
            </a:r>
            <a:r>
              <a:rPr spc="-10" dirty="0"/>
              <a:t>ATTENTION</a:t>
            </a:r>
          </a:p>
        </p:txBody>
      </p:sp>
      <p:sp>
        <p:nvSpPr>
          <p:cNvPr id="9" name="object 9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Dimensionality</a:t>
            </a:r>
            <a:r>
              <a:rPr spc="-20" dirty="0"/>
              <a:t> </a:t>
            </a:r>
            <a:r>
              <a:rPr spc="-10" dirty="0"/>
              <a:t>Reduction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50" b="0" spc="-65" dirty="0">
                <a:solidFill>
                  <a:srgbClr val="94A3B8"/>
                </a:solidFill>
                <a:latin typeface="Trebuchet MS"/>
                <a:cs typeface="Trebuchet MS"/>
              </a:rPr>
              <a:t>For</a:t>
            </a:r>
            <a:r>
              <a:rPr sz="1650" b="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high-speed</a:t>
            </a:r>
            <a:r>
              <a:rPr sz="1650" b="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screening,</a:t>
            </a:r>
            <a:r>
              <a:rPr sz="1650" b="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4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b="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framework</a:t>
            </a:r>
            <a:r>
              <a:rPr sz="1650" b="0" spc="-5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reduces</a:t>
            </a:r>
            <a:r>
              <a:rPr sz="1650" b="0" spc="-50" dirty="0">
                <a:solidFill>
                  <a:srgbClr val="94A3B8"/>
                </a:solidFill>
                <a:latin typeface="Trebuchet MS"/>
                <a:cs typeface="Trebuchet MS"/>
              </a:rPr>
              <a:t> 7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50" b="0" spc="-30" dirty="0">
                <a:solidFill>
                  <a:srgbClr val="94A3B8"/>
                </a:solidFill>
                <a:latin typeface="Trebuchet MS"/>
                <a:cs typeface="Trebuchet MS"/>
              </a:rPr>
              <a:t>features</a:t>
            </a:r>
            <a:r>
              <a:rPr sz="1650" b="0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down</a:t>
            </a:r>
            <a:r>
              <a:rPr sz="1650" b="0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to</a:t>
            </a:r>
            <a:r>
              <a:rPr sz="1650" b="0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60" dirty="0">
                <a:solidFill>
                  <a:srgbClr val="94A3B8"/>
                </a:solidFill>
                <a:latin typeface="Trebuchet MS"/>
                <a:cs typeface="Trebuchet MS"/>
              </a:rPr>
              <a:t>3</a:t>
            </a:r>
            <a:r>
              <a:rPr sz="1650" b="0" spc="-5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55" dirty="0">
                <a:solidFill>
                  <a:srgbClr val="94A3B8"/>
                </a:solidFill>
              </a:rPr>
              <a:t>Principal</a:t>
            </a:r>
            <a:r>
              <a:rPr sz="1650" spc="-65" dirty="0">
                <a:solidFill>
                  <a:srgbClr val="94A3B8"/>
                </a:solidFill>
              </a:rPr>
              <a:t> </a:t>
            </a:r>
            <a:r>
              <a:rPr sz="1650" spc="-10" dirty="0">
                <a:solidFill>
                  <a:srgbClr val="94A3B8"/>
                </a:solidFill>
              </a:rPr>
              <a:t>Components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.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135"/>
              </a:spcBef>
            </a:pPr>
            <a:r>
              <a:rPr sz="1650" b="0" spc="135" dirty="0">
                <a:solidFill>
                  <a:srgbClr val="94A3B8"/>
                </a:solidFill>
                <a:latin typeface="Trebuchet MS"/>
                <a:cs typeface="Trebuchet MS"/>
              </a:rPr>
              <a:t>A</a:t>
            </a:r>
            <a:r>
              <a:rPr sz="1650" b="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balanced</a:t>
            </a:r>
            <a:r>
              <a:rPr sz="1650" b="0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rgbClr val="94A3B8"/>
                </a:solidFill>
              </a:rPr>
              <a:t>Logistic</a:t>
            </a:r>
            <a:r>
              <a:rPr sz="1650" spc="-70" dirty="0">
                <a:solidFill>
                  <a:srgbClr val="94A3B8"/>
                </a:solidFill>
              </a:rPr>
              <a:t> </a:t>
            </a:r>
            <a:r>
              <a:rPr sz="1650" spc="-45" dirty="0">
                <a:solidFill>
                  <a:srgbClr val="94A3B8"/>
                </a:solidFill>
              </a:rPr>
              <a:t>Regression</a:t>
            </a:r>
            <a:r>
              <a:rPr sz="1650" spc="-75" dirty="0">
                <a:solidFill>
                  <a:srgbClr val="94A3B8"/>
                </a:solidFill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model</a:t>
            </a:r>
            <a:r>
              <a:rPr sz="1650" b="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35" dirty="0">
                <a:solidFill>
                  <a:srgbClr val="94A3B8"/>
                </a:solidFill>
                <a:latin typeface="Trebuchet MS"/>
                <a:cs typeface="Trebuchet MS"/>
              </a:rPr>
              <a:t>then</a:t>
            </a:r>
            <a:r>
              <a:rPr sz="1650" b="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performs</a:t>
            </a:r>
            <a:r>
              <a:rPr sz="1650" b="0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25" dirty="0">
                <a:solidFill>
                  <a:srgbClr val="94A3B8"/>
                </a:solidFill>
                <a:latin typeface="Trebuchet MS"/>
                <a:cs typeface="Trebuchet MS"/>
              </a:rPr>
              <a:t>the </a:t>
            </a:r>
            <a:r>
              <a:rPr sz="1650" b="0" spc="-75" dirty="0">
                <a:solidFill>
                  <a:srgbClr val="94A3B8"/>
                </a:solidFill>
                <a:latin typeface="Trebuchet MS"/>
                <a:cs typeface="Trebuchet MS"/>
              </a:rPr>
              <a:t>final</a:t>
            </a:r>
            <a:r>
              <a:rPr sz="1650" b="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60" dirty="0">
                <a:solidFill>
                  <a:srgbClr val="94A3B8"/>
                </a:solidFill>
                <a:latin typeface="Trebuchet MS"/>
                <a:cs typeface="Trebuchet MS"/>
              </a:rPr>
              <a:t>logit</a:t>
            </a:r>
            <a:r>
              <a:rPr sz="1650" b="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45" dirty="0">
                <a:solidFill>
                  <a:srgbClr val="94A3B8"/>
                </a:solidFill>
                <a:latin typeface="Trebuchet MS"/>
                <a:cs typeface="Trebuchet MS"/>
              </a:rPr>
              <a:t>classification</a:t>
            </a:r>
            <a:r>
              <a:rPr sz="1650" b="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dirty="0">
                <a:solidFill>
                  <a:srgbClr val="94A3B8"/>
                </a:solidFill>
                <a:latin typeface="Trebuchet MS"/>
                <a:cs typeface="Trebuchet MS"/>
              </a:rPr>
              <a:t>on</a:t>
            </a:r>
            <a:r>
              <a:rPr sz="1650" b="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20" dirty="0">
                <a:solidFill>
                  <a:srgbClr val="94A3B8"/>
                </a:solidFill>
                <a:latin typeface="Trebuchet MS"/>
                <a:cs typeface="Trebuchet MS"/>
              </a:rPr>
              <a:t>these</a:t>
            </a:r>
            <a:r>
              <a:rPr sz="1650" b="0" spc="-8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b="0" spc="-10" dirty="0">
                <a:solidFill>
                  <a:srgbClr val="94A3B8"/>
                </a:solidFill>
                <a:latin typeface="Trebuchet MS"/>
                <a:cs typeface="Trebuchet MS"/>
              </a:rPr>
              <a:t>components.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5.</a:t>
            </a:r>
            <a:r>
              <a:rPr spc="-195" dirty="0"/>
              <a:t> </a:t>
            </a:r>
            <a:r>
              <a:rPr spc="-50" dirty="0"/>
              <a:t>BASELINE:</a:t>
            </a:r>
            <a:r>
              <a:rPr spc="-195" dirty="0"/>
              <a:t> </a:t>
            </a:r>
            <a:r>
              <a:rPr spc="95" dirty="0"/>
              <a:t>LOGISTIC</a:t>
            </a:r>
            <a:r>
              <a:rPr spc="-190" dirty="0"/>
              <a:t> </a:t>
            </a:r>
            <a:r>
              <a:rPr spc="90" dirty="0"/>
              <a:t>REGRESSION</a:t>
            </a:r>
            <a:r>
              <a:rPr spc="-195" dirty="0"/>
              <a:t> </a:t>
            </a:r>
            <a:r>
              <a:rPr dirty="0"/>
              <a:t>+</a:t>
            </a:r>
            <a:r>
              <a:rPr spc="-190" dirty="0"/>
              <a:t> </a:t>
            </a:r>
            <a:r>
              <a:rPr spc="110" dirty="0"/>
              <a:t>PCA</a:t>
            </a:r>
          </a:p>
        </p:txBody>
      </p:sp>
      <p:sp>
        <p:nvSpPr>
          <p:cNvPr id="4" name="object 4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150" y="1950462"/>
            <a:ext cx="5540701" cy="3957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1466850"/>
            <a:ext cx="11029949" cy="48101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8325" y="4689030"/>
            <a:ext cx="793940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CNN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50" dirty="0">
                <a:solidFill>
                  <a:srgbClr val="94A3B8"/>
                </a:solidFill>
                <a:latin typeface="Trebuchet MS"/>
                <a:cs typeface="Trebuchet MS"/>
              </a:rPr>
              <a:t>architecture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demonstrates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94A3B8"/>
                </a:solidFill>
                <a:latin typeface="Trebuchet MS"/>
                <a:cs typeface="Trebuchet MS"/>
              </a:rPr>
              <a:t>superior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sensitivity 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for</a:t>
            </a:r>
            <a:r>
              <a:rPr sz="1650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140" dirty="0">
                <a:solidFill>
                  <a:srgbClr val="94A3B8"/>
                </a:solidFill>
                <a:latin typeface="Trebuchet MS"/>
                <a:cs typeface="Trebuchet MS"/>
              </a:rPr>
              <a:t>MDD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time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94A3B8"/>
                </a:solidFill>
                <a:latin typeface="Trebuchet MS"/>
                <a:cs typeface="Trebuchet MS"/>
              </a:rPr>
              <a:t>series</a:t>
            </a:r>
            <a:r>
              <a:rPr sz="1650" spc="-6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signatures.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1025" y="4519612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11029949" y="9524"/>
                </a:moveTo>
                <a:lnTo>
                  <a:pt x="0" y="9524"/>
                </a:lnTo>
                <a:lnTo>
                  <a:pt x="0" y="0"/>
                </a:lnTo>
                <a:lnTo>
                  <a:pt x="11029949" y="0"/>
                </a:lnTo>
                <a:lnTo>
                  <a:pt x="11029949" y="9524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0" dirty="0"/>
              <a:t>SYSTEM</a:t>
            </a:r>
            <a:r>
              <a:rPr spc="-195" dirty="0"/>
              <a:t> </a:t>
            </a:r>
            <a:r>
              <a:rPr spc="130" dirty="0"/>
              <a:t>ACCURACY</a:t>
            </a:r>
            <a:r>
              <a:rPr spc="-195" dirty="0"/>
              <a:t> </a:t>
            </a:r>
            <a:r>
              <a:rPr spc="70" dirty="0"/>
              <a:t>BENCHMARKS</a:t>
            </a:r>
          </a:p>
        </p:txBody>
      </p:sp>
      <p:sp>
        <p:nvSpPr>
          <p:cNvPr id="6" name="object 6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3519487"/>
            <a:ext cx="5276849" cy="4857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4148137"/>
            <a:ext cx="5276849" cy="485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" y="4776787"/>
            <a:ext cx="5276849" cy="485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4125" y="2062162"/>
            <a:ext cx="5276849" cy="36194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68325" y="2461429"/>
            <a:ext cx="4921885" cy="2657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F1F4F9"/>
                </a:solidFill>
                <a:latin typeface="Trebuchet MS"/>
                <a:cs typeface="Trebuchet MS"/>
              </a:rPr>
              <a:t>Streamlit</a:t>
            </a:r>
            <a:r>
              <a:rPr sz="1400" b="1" spc="-55" dirty="0">
                <a:solidFill>
                  <a:srgbClr val="F1F4F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F1F4F9"/>
                </a:solidFill>
                <a:latin typeface="Trebuchet MS"/>
                <a:cs typeface="Trebuchet MS"/>
              </a:rPr>
              <a:t>Portal</a:t>
            </a:r>
            <a:r>
              <a:rPr sz="1400" b="1" spc="-55" dirty="0">
                <a:solidFill>
                  <a:srgbClr val="F1F4F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F1F4F9"/>
                </a:solidFill>
                <a:latin typeface="Trebuchet MS"/>
                <a:cs typeface="Trebuchet MS"/>
              </a:rPr>
              <a:t>Navigation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50" spc="-55" dirty="0">
                <a:solidFill>
                  <a:srgbClr val="94A3B8"/>
                </a:solidFill>
                <a:latin typeface="Trebuchet MS"/>
                <a:cs typeface="Trebuchet MS"/>
              </a:rPr>
              <a:t>Practitioners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can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85" dirty="0">
                <a:solidFill>
                  <a:srgbClr val="94A3B8"/>
                </a:solidFill>
                <a:latin typeface="Trebuchet MS"/>
                <a:cs typeface="Trebuchet MS"/>
              </a:rPr>
              <a:t>inject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raw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35" dirty="0">
                <a:solidFill>
                  <a:srgbClr val="94A3B8"/>
                </a:solidFill>
                <a:latin typeface="Trebuchet MS"/>
                <a:cs typeface="Trebuchet MS"/>
              </a:rPr>
              <a:t>patient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vectors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and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select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models</a:t>
            </a:r>
            <a:r>
              <a:rPr sz="1650" spc="-10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via</a:t>
            </a:r>
            <a:r>
              <a:rPr sz="1650" spc="-10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three</a:t>
            </a:r>
            <a:r>
              <a:rPr sz="1650" spc="-10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tabs:</a:t>
            </a:r>
            <a:endParaRPr sz="1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650">
              <a:latin typeface="Trebuchet MS"/>
              <a:cs typeface="Trebuchet MS"/>
            </a:endParaRPr>
          </a:p>
          <a:p>
            <a:pPr marL="165100">
              <a:lnSpc>
                <a:spcPct val="100000"/>
              </a:lnSpc>
            </a:pPr>
            <a:r>
              <a:rPr sz="1200" b="1" dirty="0">
                <a:solidFill>
                  <a:srgbClr val="F1F4F9"/>
                </a:solidFill>
                <a:latin typeface="Trebuchet MS"/>
                <a:cs typeface="Trebuchet MS"/>
              </a:rPr>
              <a:t>Tab</a:t>
            </a:r>
            <a:r>
              <a:rPr sz="1200" b="1" spc="-40" dirty="0">
                <a:solidFill>
                  <a:srgbClr val="F1F4F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1F4F9"/>
                </a:solidFill>
                <a:latin typeface="Trebuchet MS"/>
                <a:cs typeface="Trebuchet MS"/>
              </a:rPr>
              <a:t>1: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200">
              <a:latin typeface="Trebuchet MS"/>
              <a:cs typeface="Trebuchet MS"/>
            </a:endParaRPr>
          </a:p>
          <a:p>
            <a:pPr marL="165100">
              <a:lnSpc>
                <a:spcPct val="100000"/>
              </a:lnSpc>
            </a:pPr>
            <a:r>
              <a:rPr sz="1200" b="1" dirty="0">
                <a:solidFill>
                  <a:srgbClr val="F1F4F9"/>
                </a:solidFill>
                <a:latin typeface="Trebuchet MS"/>
                <a:cs typeface="Trebuchet MS"/>
              </a:rPr>
              <a:t>Tab</a:t>
            </a:r>
            <a:r>
              <a:rPr sz="1200" b="1" spc="-40" dirty="0">
                <a:solidFill>
                  <a:srgbClr val="F1F4F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1F4F9"/>
                </a:solidFill>
                <a:latin typeface="Trebuchet MS"/>
                <a:cs typeface="Trebuchet MS"/>
              </a:rPr>
              <a:t>2: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200">
              <a:latin typeface="Trebuchet MS"/>
              <a:cs typeface="Trebuchet MS"/>
            </a:endParaRPr>
          </a:p>
          <a:p>
            <a:pPr marL="165100">
              <a:lnSpc>
                <a:spcPct val="100000"/>
              </a:lnSpc>
            </a:pPr>
            <a:r>
              <a:rPr sz="1200" b="1" dirty="0">
                <a:solidFill>
                  <a:srgbClr val="F1F4F9"/>
                </a:solidFill>
                <a:latin typeface="Trebuchet MS"/>
                <a:cs typeface="Trebuchet MS"/>
              </a:rPr>
              <a:t>Tab</a:t>
            </a:r>
            <a:r>
              <a:rPr sz="1200" b="1" spc="-40" dirty="0">
                <a:solidFill>
                  <a:srgbClr val="F1F4F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F1F4F9"/>
                </a:solidFill>
                <a:latin typeface="Trebuchet MS"/>
                <a:cs typeface="Trebuchet MS"/>
              </a:rPr>
              <a:t>3: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58825" y="551560"/>
            <a:ext cx="58566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6.</a:t>
            </a:r>
            <a:r>
              <a:rPr spc="-195" dirty="0"/>
              <a:t> </a:t>
            </a:r>
            <a:r>
              <a:rPr spc="45" dirty="0"/>
              <a:t>RESEARCH</a:t>
            </a:r>
            <a:r>
              <a:rPr spc="-190" dirty="0"/>
              <a:t> </a:t>
            </a:r>
            <a:r>
              <a:rPr spc="100" dirty="0"/>
              <a:t>LABS</a:t>
            </a:r>
            <a:r>
              <a:rPr spc="-195" dirty="0"/>
              <a:t> </a:t>
            </a:r>
            <a:r>
              <a:rPr spc="-10" dirty="0"/>
              <a:t>INTERFACE</a:t>
            </a:r>
          </a:p>
        </p:txBody>
      </p:sp>
      <p:sp>
        <p:nvSpPr>
          <p:cNvPr id="8" name="object 8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2062162"/>
            <a:ext cx="5276849" cy="3619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4125" y="2676525"/>
            <a:ext cx="5276849" cy="23907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11950" y="3047217"/>
            <a:ext cx="4441190" cy="1314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1F4F9"/>
                </a:solidFill>
                <a:latin typeface="Trebuchet MS"/>
                <a:cs typeface="Trebuchet MS"/>
              </a:rPr>
              <a:t>Data</a:t>
            </a:r>
            <a:r>
              <a:rPr sz="1400" b="1" spc="-10" dirty="0">
                <a:solidFill>
                  <a:srgbClr val="F1F4F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F1F4F9"/>
                </a:solidFill>
                <a:latin typeface="Trebuchet MS"/>
                <a:cs typeface="Trebuchet MS"/>
              </a:rPr>
              <a:t>Export</a:t>
            </a:r>
            <a:r>
              <a:rPr sz="1400" b="1" spc="-10" dirty="0">
                <a:solidFill>
                  <a:srgbClr val="F1F4F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F1F4F9"/>
                </a:solidFill>
                <a:latin typeface="Trebuchet MS"/>
                <a:cs typeface="Trebuchet MS"/>
              </a:rPr>
              <a:t>Node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50" spc="-45" dirty="0">
                <a:solidFill>
                  <a:srgbClr val="94A3B8"/>
                </a:solidFill>
                <a:latin typeface="Trebuchet MS"/>
                <a:cs typeface="Trebuchet MS"/>
              </a:rPr>
              <a:t>Clinicians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can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export</a:t>
            </a:r>
            <a:r>
              <a:rPr sz="1650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the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65" dirty="0">
                <a:solidFill>
                  <a:srgbClr val="94A3B8"/>
                </a:solidFill>
                <a:latin typeface="Trebuchet MS"/>
                <a:cs typeface="Trebuchet MS"/>
              </a:rPr>
              <a:t>entire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94A3B8"/>
                </a:solidFill>
                <a:latin typeface="Trebuchet MS"/>
                <a:cs typeface="Trebuchet MS"/>
              </a:rPr>
              <a:t>system</a:t>
            </a:r>
            <a:r>
              <a:rPr sz="1650" spc="-6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history</a:t>
            </a:r>
            <a:r>
              <a:rPr sz="1650" spc="-70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5" dirty="0">
                <a:solidFill>
                  <a:srgbClr val="94A3B8"/>
                </a:solidFill>
                <a:latin typeface="Trebuchet MS"/>
                <a:cs typeface="Trebuchet MS"/>
              </a:rPr>
              <a:t>to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50" spc="145" dirty="0">
                <a:solidFill>
                  <a:srgbClr val="94A3B8"/>
                </a:solidFill>
                <a:latin typeface="Trebuchet MS"/>
                <a:cs typeface="Trebuchet MS"/>
              </a:rPr>
              <a:t>CSV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for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40" dirty="0">
                <a:solidFill>
                  <a:srgbClr val="94A3B8"/>
                </a:solidFill>
                <a:latin typeface="Trebuchet MS"/>
                <a:cs typeface="Trebuchet MS"/>
              </a:rPr>
              <a:t>external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20" dirty="0">
                <a:solidFill>
                  <a:srgbClr val="94A3B8"/>
                </a:solidFill>
                <a:latin typeface="Trebuchet MS"/>
                <a:cs typeface="Trebuchet MS"/>
              </a:rPr>
              <a:t>research</a:t>
            </a:r>
            <a:r>
              <a:rPr sz="1650" spc="-7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94A3B8"/>
                </a:solidFill>
                <a:latin typeface="Trebuchet MS"/>
                <a:cs typeface="Trebuchet MS"/>
              </a:rPr>
              <a:t>validation.</a:t>
            </a:r>
            <a:endParaRPr sz="1650">
              <a:latin typeface="Trebuchet MS"/>
              <a:cs typeface="Trebuchet MS"/>
            </a:endParaRPr>
          </a:p>
          <a:p>
            <a:pPr marL="346075">
              <a:lnSpc>
                <a:spcPct val="100000"/>
              </a:lnSpc>
              <a:spcBef>
                <a:spcPts val="1500"/>
              </a:spcBef>
            </a:pPr>
            <a:r>
              <a:rPr sz="1650" dirty="0">
                <a:solidFill>
                  <a:srgbClr val="10B981"/>
                </a:solidFill>
                <a:latin typeface="Trebuchet MS"/>
                <a:cs typeface="Trebuchet MS"/>
              </a:rPr>
              <a:t>GDPR</a:t>
            </a:r>
            <a:r>
              <a:rPr sz="1650" spc="-75" dirty="0">
                <a:solidFill>
                  <a:srgbClr val="10B981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10B981"/>
                </a:solidFill>
                <a:latin typeface="Trebuchet MS"/>
                <a:cs typeface="Trebuchet MS"/>
              </a:rPr>
              <a:t>&amp;</a:t>
            </a:r>
            <a:r>
              <a:rPr sz="1650" spc="-75" dirty="0">
                <a:solidFill>
                  <a:srgbClr val="10B981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10B981"/>
                </a:solidFill>
                <a:latin typeface="Trebuchet MS"/>
                <a:cs typeface="Trebuchet MS"/>
              </a:rPr>
              <a:t>Research</a:t>
            </a:r>
            <a:r>
              <a:rPr sz="1650" spc="-70" dirty="0">
                <a:solidFill>
                  <a:srgbClr val="10B981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10B981"/>
                </a:solidFill>
                <a:latin typeface="Trebuchet MS"/>
                <a:cs typeface="Trebuchet MS"/>
              </a:rPr>
              <a:t>Compliance</a:t>
            </a:r>
            <a:r>
              <a:rPr sz="1650" spc="-75" dirty="0">
                <a:solidFill>
                  <a:srgbClr val="10B981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10B981"/>
                </a:solidFill>
                <a:latin typeface="Trebuchet MS"/>
                <a:cs typeface="Trebuchet MS"/>
              </a:rPr>
              <a:t>Ready</a:t>
            </a:r>
            <a:endParaRPr sz="16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24650" y="4105275"/>
            <a:ext cx="333374" cy="38099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AUDIT</a:t>
            </a:r>
            <a:r>
              <a:rPr spc="-185" dirty="0"/>
              <a:t> </a:t>
            </a:r>
            <a:r>
              <a:rPr dirty="0"/>
              <a:t>&amp;</a:t>
            </a:r>
            <a:r>
              <a:rPr spc="-185" dirty="0"/>
              <a:t> </a:t>
            </a:r>
            <a:r>
              <a:rPr spc="95" dirty="0"/>
              <a:t>COMPLIANCE</a:t>
            </a:r>
          </a:p>
        </p:txBody>
      </p:sp>
      <p:sp>
        <p:nvSpPr>
          <p:cNvPr id="7" name="object 7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1025" y="3009912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11029950" y="0"/>
                </a:moveTo>
                <a:lnTo>
                  <a:pt x="0" y="0"/>
                </a:lnTo>
                <a:lnTo>
                  <a:pt x="0" y="9525"/>
                </a:lnTo>
                <a:lnTo>
                  <a:pt x="11029950" y="9525"/>
                </a:lnTo>
                <a:lnTo>
                  <a:pt x="11029950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1025" y="3781437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11029950" y="0"/>
                </a:moveTo>
                <a:lnTo>
                  <a:pt x="0" y="0"/>
                </a:lnTo>
                <a:lnTo>
                  <a:pt x="0" y="9525"/>
                </a:lnTo>
                <a:lnTo>
                  <a:pt x="11029950" y="9525"/>
                </a:lnTo>
                <a:lnTo>
                  <a:pt x="11029950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1025" y="4552962"/>
            <a:ext cx="11029950" cy="9525"/>
          </a:xfrm>
          <a:custGeom>
            <a:avLst/>
            <a:gdLst/>
            <a:ahLst/>
            <a:cxnLst/>
            <a:rect l="l" t="t" r="r" b="b"/>
            <a:pathLst>
              <a:path w="11029950" h="9525">
                <a:moveTo>
                  <a:pt x="11029950" y="0"/>
                </a:moveTo>
                <a:lnTo>
                  <a:pt x="0" y="0"/>
                </a:lnTo>
                <a:lnTo>
                  <a:pt x="0" y="9525"/>
                </a:lnTo>
                <a:lnTo>
                  <a:pt x="11029950" y="9525"/>
                </a:lnTo>
                <a:lnTo>
                  <a:pt x="11029950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2390775"/>
            <a:ext cx="857249" cy="476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3162300"/>
            <a:ext cx="857249" cy="476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" y="3933825"/>
            <a:ext cx="857249" cy="476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4791075"/>
            <a:ext cx="857249" cy="4762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63700" y="2312315"/>
            <a:ext cx="9836785" cy="300164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950" spc="-35" dirty="0">
                <a:solidFill>
                  <a:srgbClr val="94A3B8"/>
                </a:solidFill>
                <a:latin typeface="Trebuchet MS"/>
                <a:cs typeface="Trebuchet MS"/>
                <a:hlinkClick r:id="rId6"/>
              </a:rPr>
              <a:t>https://apertureneuro.org/article/123059-</a:t>
            </a:r>
            <a:r>
              <a:rPr sz="950" dirty="0">
                <a:solidFill>
                  <a:srgbClr val="94A3B8"/>
                </a:solidFill>
                <a:latin typeface="Trebuchet MS"/>
                <a:cs typeface="Trebuchet MS"/>
                <a:hlinkClick r:id="rId6"/>
              </a:rPr>
              <a:t>brainchop-</a:t>
            </a:r>
            <a:r>
              <a:rPr sz="950" spc="-10" dirty="0">
                <a:solidFill>
                  <a:srgbClr val="94A3B8"/>
                </a:solidFill>
                <a:latin typeface="Trebuchet MS"/>
                <a:cs typeface="Trebuchet MS"/>
                <a:hlinkClick r:id="rId6"/>
              </a:rPr>
              <a:t>providing-</a:t>
            </a:r>
            <a:r>
              <a:rPr sz="950" spc="50" dirty="0">
                <a:solidFill>
                  <a:srgbClr val="94A3B8"/>
                </a:solidFill>
                <a:latin typeface="Trebuchet MS"/>
                <a:cs typeface="Trebuchet MS"/>
                <a:hlinkClick r:id="rId6"/>
              </a:rPr>
              <a:t>an-edge-</a:t>
            </a:r>
            <a:r>
              <a:rPr sz="950" dirty="0">
                <a:solidFill>
                  <a:srgbClr val="94A3B8"/>
                </a:solidFill>
                <a:latin typeface="Trebuchet MS"/>
                <a:cs typeface="Trebuchet MS"/>
                <a:hlinkClick r:id="rId6"/>
              </a:rPr>
              <a:t>ecosystem-for-deployment-of-neuroimaging-</a:t>
            </a:r>
            <a:r>
              <a:rPr sz="950" spc="-30" dirty="0">
                <a:solidFill>
                  <a:srgbClr val="94A3B8"/>
                </a:solidFill>
                <a:latin typeface="Trebuchet MS"/>
                <a:cs typeface="Trebuchet MS"/>
                <a:hlinkClick r:id="rId6"/>
              </a:rPr>
              <a:t>artificial-</a:t>
            </a:r>
            <a:r>
              <a:rPr sz="950" spc="-20" dirty="0">
                <a:solidFill>
                  <a:srgbClr val="94A3B8"/>
                </a:solidFill>
                <a:latin typeface="Trebuchet MS"/>
                <a:cs typeface="Trebuchet MS"/>
                <a:hlinkClick r:id="rId6"/>
              </a:rPr>
              <a:t>intelligence-</a:t>
            </a:r>
            <a:r>
              <a:rPr sz="950" spc="-10" dirty="0">
                <a:solidFill>
                  <a:srgbClr val="94A3B8"/>
                </a:solidFill>
                <a:latin typeface="Trebuchet MS"/>
                <a:cs typeface="Trebuchet MS"/>
                <a:hlinkClick r:id="rId6"/>
              </a:rPr>
              <a:t>models/attachment/243626.png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spc="-30" dirty="0">
                <a:solidFill>
                  <a:srgbClr val="94A3B8"/>
                </a:solidFill>
                <a:latin typeface="Trebuchet MS"/>
                <a:cs typeface="Trebuchet MS"/>
              </a:rPr>
              <a:t>Source: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4F46E4"/>
                </a:solidFill>
                <a:latin typeface="Trebuchet MS"/>
                <a:cs typeface="Trebuchet MS"/>
              </a:rPr>
              <a:t>apertureneuro.org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50" spc="-30" dirty="0">
                <a:solidFill>
                  <a:srgbClr val="94A3B8"/>
                </a:solidFill>
                <a:latin typeface="Trebuchet MS"/>
                <a:cs typeface="Trebuchet MS"/>
                <a:hlinkClick r:id="rId7"/>
              </a:rPr>
              <a:t>https://static.vecteezy.com/system/resources/thumbnails/075/537/349/small_2x/medical-</a:t>
            </a:r>
            <a:r>
              <a:rPr sz="950" dirty="0">
                <a:solidFill>
                  <a:srgbClr val="94A3B8"/>
                </a:solidFill>
                <a:latin typeface="Trebuchet MS"/>
                <a:cs typeface="Trebuchet MS"/>
                <a:hlinkClick r:id="rId7"/>
              </a:rPr>
              <a:t>data-analysis-with-</a:t>
            </a:r>
            <a:r>
              <a:rPr sz="950" spc="-20" dirty="0">
                <a:solidFill>
                  <a:srgbClr val="94A3B8"/>
                </a:solidFill>
                <a:latin typeface="Trebuchet MS"/>
                <a:cs typeface="Trebuchet MS"/>
                <a:hlinkClick r:id="rId7"/>
              </a:rPr>
              <a:t>digital-</a:t>
            </a:r>
            <a:r>
              <a:rPr sz="950" dirty="0">
                <a:solidFill>
                  <a:srgbClr val="94A3B8"/>
                </a:solidFill>
                <a:latin typeface="Trebuchet MS"/>
                <a:cs typeface="Trebuchet MS"/>
                <a:hlinkClick r:id="rId7"/>
              </a:rPr>
              <a:t>interface-and-healthcare-professional-free-</a:t>
            </a:r>
            <a:r>
              <a:rPr sz="950" spc="-10" dirty="0">
                <a:solidFill>
                  <a:srgbClr val="94A3B8"/>
                </a:solidFill>
                <a:latin typeface="Trebuchet MS"/>
                <a:cs typeface="Trebuchet MS"/>
                <a:hlinkClick r:id="rId7"/>
              </a:rPr>
              <a:t>video.jpg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200" spc="-30" dirty="0">
                <a:solidFill>
                  <a:srgbClr val="94A3B8"/>
                </a:solidFill>
                <a:latin typeface="Trebuchet MS"/>
                <a:cs typeface="Trebuchet MS"/>
              </a:rPr>
              <a:t>Source: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4F46E4"/>
                </a:solidFill>
                <a:latin typeface="Trebuchet MS"/>
                <a:cs typeface="Trebuchet MS"/>
                <a:hlinkClick r:id="rId8"/>
              </a:rPr>
              <a:t>www.vecteezy.com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50" spc="-35" dirty="0">
                <a:solidFill>
                  <a:srgbClr val="94A3B8"/>
                </a:solidFill>
                <a:latin typeface="Trebuchet MS"/>
                <a:cs typeface="Trebuchet MS"/>
                <a:hlinkClick r:id="rId9"/>
              </a:rPr>
              <a:t>https://www.mdpi.com/brainsci/brainsci-</a:t>
            </a:r>
            <a:r>
              <a:rPr sz="950" spc="-25" dirty="0">
                <a:solidFill>
                  <a:srgbClr val="94A3B8"/>
                </a:solidFill>
                <a:latin typeface="Trebuchet MS"/>
                <a:cs typeface="Trebuchet MS"/>
                <a:hlinkClick r:id="rId9"/>
              </a:rPr>
              <a:t>16-</a:t>
            </a:r>
            <a:r>
              <a:rPr sz="950" spc="-30" dirty="0">
                <a:solidFill>
                  <a:srgbClr val="94A3B8"/>
                </a:solidFill>
                <a:latin typeface="Trebuchet MS"/>
                <a:cs typeface="Trebuchet MS"/>
                <a:hlinkClick r:id="rId9"/>
              </a:rPr>
              <a:t>00411/article_deploy/html/images/brainsci-</a:t>
            </a:r>
            <a:r>
              <a:rPr sz="950" spc="-25" dirty="0">
                <a:solidFill>
                  <a:srgbClr val="94A3B8"/>
                </a:solidFill>
                <a:latin typeface="Trebuchet MS"/>
                <a:cs typeface="Trebuchet MS"/>
                <a:hlinkClick r:id="rId9"/>
              </a:rPr>
              <a:t>16-</a:t>
            </a:r>
            <a:r>
              <a:rPr sz="950" spc="-30" dirty="0">
                <a:solidFill>
                  <a:srgbClr val="94A3B8"/>
                </a:solidFill>
                <a:latin typeface="Trebuchet MS"/>
                <a:cs typeface="Trebuchet MS"/>
                <a:hlinkClick r:id="rId9"/>
              </a:rPr>
              <a:t>00411-g010-</a:t>
            </a:r>
            <a:r>
              <a:rPr sz="950" spc="-10" dirty="0">
                <a:solidFill>
                  <a:srgbClr val="94A3B8"/>
                </a:solidFill>
                <a:latin typeface="Trebuchet MS"/>
                <a:cs typeface="Trebuchet MS"/>
                <a:hlinkClick r:id="rId9"/>
              </a:rPr>
              <a:t>550.jpg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200" spc="-30" dirty="0">
                <a:solidFill>
                  <a:srgbClr val="94A3B8"/>
                </a:solidFill>
                <a:latin typeface="Trebuchet MS"/>
                <a:cs typeface="Trebuchet MS"/>
              </a:rPr>
              <a:t>Source: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4F46E4"/>
                </a:solidFill>
                <a:latin typeface="Trebuchet MS"/>
                <a:cs typeface="Trebuchet MS"/>
                <a:hlinkClick r:id="rId10"/>
              </a:rPr>
              <a:t>www.mdpi.com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53900"/>
              </a:lnSpc>
            </a:pPr>
            <a:r>
              <a:rPr sz="950" spc="-20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https://static.vecteezy.com/system/resources/previews/026/392/739/non_2x/data-</a:t>
            </a:r>
            <a:r>
              <a:rPr sz="950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analysis-</a:t>
            </a:r>
            <a:r>
              <a:rPr sz="950" spc="20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in-</a:t>
            </a:r>
            <a:r>
              <a:rPr sz="950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medical-</a:t>
            </a:r>
            <a:r>
              <a:rPr sz="950" spc="-10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industry-</a:t>
            </a:r>
            <a:r>
              <a:rPr sz="950" spc="20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loop-</a:t>
            </a:r>
            <a:r>
              <a:rPr sz="950" spc="5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concept-</a:t>
            </a:r>
            <a:r>
              <a:rPr sz="950" spc="15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icon-</a:t>
            </a:r>
            <a:r>
              <a:rPr sz="950" spc="-30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clinic-</a:t>
            </a:r>
            <a:r>
              <a:rPr sz="950" spc="5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software-</a:t>
            </a:r>
            <a:r>
              <a:rPr sz="950" spc="-5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innovations-</a:t>
            </a:r>
            <a:r>
              <a:rPr sz="950" spc="10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in-</a:t>
            </a:r>
            <a:r>
              <a:rPr sz="950" spc="5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healthcare-</a:t>
            </a:r>
            <a:r>
              <a:rPr sz="950" spc="15" dirty="0">
                <a:solidFill>
                  <a:srgbClr val="94A3B8"/>
                </a:solidFill>
                <a:latin typeface="Trebuchet MS"/>
                <a:cs typeface="Trebuchet MS"/>
                <a:hlinkClick r:id="rId11"/>
              </a:rPr>
              <a:t>abstra</a:t>
            </a:r>
            <a:r>
              <a:rPr sz="950" spc="3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950" spc="-15" dirty="0">
                <a:solidFill>
                  <a:srgbClr val="94A3B8"/>
                </a:solidFill>
                <a:latin typeface="Trebuchet MS"/>
                <a:cs typeface="Trebuchet MS"/>
              </a:rPr>
              <a:t>ct-</a:t>
            </a:r>
            <a:r>
              <a:rPr sz="950" spc="10" dirty="0">
                <a:solidFill>
                  <a:srgbClr val="94A3B8"/>
                </a:solidFill>
                <a:latin typeface="Trebuchet MS"/>
                <a:cs typeface="Trebuchet MS"/>
              </a:rPr>
              <a:t>idea-</a:t>
            </a:r>
            <a:r>
              <a:rPr sz="950" spc="-15" dirty="0">
                <a:solidFill>
                  <a:srgbClr val="94A3B8"/>
                </a:solidFill>
                <a:latin typeface="Trebuchet MS"/>
                <a:cs typeface="Trebuchet MS"/>
              </a:rPr>
              <a:t>thin-line-</a:t>
            </a:r>
            <a:r>
              <a:rPr sz="950" spc="-30" dirty="0">
                <a:solidFill>
                  <a:srgbClr val="94A3B8"/>
                </a:solidFill>
                <a:latin typeface="Trebuchet MS"/>
                <a:cs typeface="Trebuchet MS"/>
              </a:rPr>
              <a:t>illustration-</a:t>
            </a:r>
            <a:r>
              <a:rPr sz="950" spc="5" dirty="0">
                <a:solidFill>
                  <a:srgbClr val="94A3B8"/>
                </a:solidFill>
                <a:latin typeface="Trebuchet MS"/>
                <a:cs typeface="Trebuchet MS"/>
              </a:rPr>
              <a:t>isolated-</a:t>
            </a:r>
            <a:r>
              <a:rPr sz="950" spc="-20" dirty="0">
                <a:solidFill>
                  <a:srgbClr val="94A3B8"/>
                </a:solidFill>
                <a:latin typeface="Trebuchet MS"/>
                <a:cs typeface="Trebuchet MS"/>
              </a:rPr>
              <a:t>outline-</a:t>
            </a:r>
            <a:r>
              <a:rPr sz="950" spc="15" dirty="0">
                <a:solidFill>
                  <a:srgbClr val="94A3B8"/>
                </a:solidFill>
                <a:latin typeface="Trebuchet MS"/>
                <a:cs typeface="Trebuchet MS"/>
              </a:rPr>
              <a:t>drawing-</a:t>
            </a:r>
            <a:r>
              <a:rPr sz="950" dirty="0">
                <a:solidFill>
                  <a:srgbClr val="94A3B8"/>
                </a:solidFill>
                <a:latin typeface="Trebuchet MS"/>
                <a:cs typeface="Trebuchet MS"/>
              </a:rPr>
              <a:t>editable-</a:t>
            </a:r>
            <a:r>
              <a:rPr sz="950" spc="5" dirty="0">
                <a:solidFill>
                  <a:srgbClr val="94A3B8"/>
                </a:solidFill>
                <a:latin typeface="Trebuchet MS"/>
                <a:cs typeface="Trebuchet MS"/>
              </a:rPr>
              <a:t>stroke-</a:t>
            </a:r>
            <a:r>
              <a:rPr sz="950" spc="-25" dirty="0">
                <a:solidFill>
                  <a:srgbClr val="94A3B8"/>
                </a:solidFill>
                <a:latin typeface="Trebuchet MS"/>
                <a:cs typeface="Trebuchet MS"/>
              </a:rPr>
              <a:t>vector.jpg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200" spc="-30" dirty="0">
                <a:solidFill>
                  <a:srgbClr val="94A3B8"/>
                </a:solidFill>
                <a:latin typeface="Trebuchet MS"/>
                <a:cs typeface="Trebuchet MS"/>
              </a:rPr>
              <a:t>Source:</a:t>
            </a:r>
            <a:r>
              <a:rPr sz="1200" spc="-45" dirty="0">
                <a:solidFill>
                  <a:srgbClr val="94A3B8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4F46E4"/>
                </a:solidFill>
                <a:latin typeface="Trebuchet MS"/>
                <a:cs typeface="Trebuchet MS"/>
                <a:hlinkClick r:id="rId8"/>
              </a:rPr>
              <a:t>www.vecteezy.com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IMAGE</a:t>
            </a:r>
            <a:r>
              <a:rPr spc="-190" dirty="0"/>
              <a:t> </a:t>
            </a:r>
            <a:r>
              <a:rPr spc="114" dirty="0"/>
              <a:t>SOURCES</a:t>
            </a:r>
          </a:p>
        </p:txBody>
      </p:sp>
      <p:sp>
        <p:nvSpPr>
          <p:cNvPr id="11" name="object 11"/>
          <p:cNvSpPr/>
          <p:nvPr/>
        </p:nvSpPr>
        <p:spPr>
          <a:xfrm>
            <a:off x="581025" y="581025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76199" y="504824"/>
                </a:moveTo>
                <a:lnTo>
                  <a:pt x="0" y="504824"/>
                </a:lnTo>
                <a:lnTo>
                  <a:pt x="0" y="0"/>
                </a:lnTo>
                <a:lnTo>
                  <a:pt x="76199" y="0"/>
                </a:lnTo>
                <a:lnTo>
                  <a:pt x="76199" y="504824"/>
                </a:lnTo>
                <a:close/>
              </a:path>
            </a:pathLst>
          </a:custGeom>
          <a:solidFill>
            <a:srgbClr val="4F46E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665795"/>
              </p:ext>
            </p:extLst>
          </p:nvPr>
        </p:nvGraphicFramePr>
        <p:xfrm>
          <a:off x="152401" y="76200"/>
          <a:ext cx="12039600" cy="662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Worksheet" r:id="rId3" imgW="11779220" imgH="9582081" progId="Excel.Sheet.12">
                  <p:embed/>
                </p:oleObj>
              </mc:Choice>
              <mc:Fallback>
                <p:oleObj name="Worksheet" r:id="rId3" imgW="11779220" imgH="958208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1" y="76200"/>
                        <a:ext cx="12039600" cy="662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320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575741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solidFill>
                  <a:srgbClr val="FF0000"/>
                </a:solidFill>
              </a:rPr>
              <a:t>PERSONAL DETAIL’S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298" y="1371600"/>
            <a:ext cx="670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FF00"/>
                </a:solidFill>
              </a:rPr>
              <a:t>NAME:- HRIDYESH KUMAR PANDEY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004030"/>
            <a:ext cx="11699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FF00"/>
                </a:solidFill>
              </a:rPr>
              <a:t>PORTFOLIO:- </a:t>
            </a:r>
            <a:r>
              <a:rPr lang="en-US" sz="2800" b="1" dirty="0" smtClean="0">
                <a:solidFill>
                  <a:srgbClr val="FFFF00"/>
                </a:solidFill>
                <a:hlinkClick r:id="rId2"/>
              </a:rPr>
              <a:t>https://hridyeshpandey4680-blip.github.io/Portfolio/</a:t>
            </a:r>
            <a:endParaRPr lang="en-US" sz="2800" b="1" dirty="0" smtClean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298" y="2610816"/>
            <a:ext cx="1143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FF00"/>
                </a:solidFill>
              </a:rPr>
              <a:t>LINKEDIN:- </a:t>
            </a:r>
            <a:r>
              <a:rPr lang="en-US" sz="2400" b="1" dirty="0" smtClean="0">
                <a:solidFill>
                  <a:srgbClr val="FFFF00"/>
                </a:solidFill>
                <a:hlinkClick r:id="rId3"/>
              </a:rPr>
              <a:t>https://www.linkedin.com/in/hridyesh-kumar-pandey-2934a4395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19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58105" y="3111144"/>
            <a:ext cx="38138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solidFill>
                  <a:srgbClr val="FFFFFF"/>
                </a:solidFill>
              </a:rPr>
              <a:t>Thank</a:t>
            </a:r>
            <a:r>
              <a:rPr sz="6000" spc="-409" dirty="0">
                <a:solidFill>
                  <a:srgbClr val="FFFFFF"/>
                </a:solidFill>
              </a:rPr>
              <a:t> </a:t>
            </a:r>
            <a:r>
              <a:rPr sz="6000" spc="-860" dirty="0">
                <a:solidFill>
                  <a:srgbClr val="FFFFFF"/>
                </a:solidFill>
              </a:rPr>
              <a:t>Y</a:t>
            </a:r>
            <a:r>
              <a:rPr sz="6000" spc="-415" dirty="0">
                <a:solidFill>
                  <a:srgbClr val="FFFFFF"/>
                </a:solidFill>
              </a:rPr>
              <a:t>o</a:t>
            </a:r>
            <a:r>
              <a:rPr sz="6000" spc="-285" dirty="0">
                <a:solidFill>
                  <a:srgbClr val="FFFFFF"/>
                </a:solidFill>
              </a:rPr>
              <a:t>u.</a:t>
            </a:r>
            <a:endParaRPr sz="6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36</TotalTime>
  <Words>669</Words>
  <Application>Microsoft Office PowerPoint</Application>
  <PresentationFormat>Custom</PresentationFormat>
  <Paragraphs>125</Paragraphs>
  <Slides>17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Office Theme</vt:lpstr>
      <vt:lpstr>Worksheet</vt:lpstr>
      <vt:lpstr>PowerPoint Presentation</vt:lpstr>
      <vt:lpstr>Mind Predict AI Multi-Model Clinical Diagnostic Framework</vt:lpstr>
      <vt:lpstr>MISSION AND SCOPE</vt:lpstr>
      <vt:lpstr>1. DATA ARCHITECTURE: SQL NODE</vt:lpstr>
      <vt:lpstr>Synthetic Research Dataset Matrix</vt:lpstr>
      <vt:lpstr>2. SYNTHETIC CLINICAL MATRIX</vt:lpstr>
      <vt:lpstr>CLINICAL DISTRIBUTION (N=1500)</vt:lpstr>
      <vt:lpstr>3. ENGINE ALPHA: CNN INCEPTION</vt:lpstr>
      <vt:lpstr>4. ENGINE BETA: RNN ATTENTION</vt:lpstr>
      <vt:lpstr>5. BASELINE: LOGISTIC REGRESSION + PCA</vt:lpstr>
      <vt:lpstr>SYSTEM ACCURACY BENCHMARKS</vt:lpstr>
      <vt:lpstr>6. RESEARCH LABS INTERFACE</vt:lpstr>
      <vt:lpstr>AUDIT &amp; COMPLIANCE</vt:lpstr>
      <vt:lpstr>IMAGE SOURCES</vt:lpstr>
      <vt:lpstr>PowerPoint Presentation</vt:lpstr>
      <vt:lpstr>PowerPoint Presentation</vt:lpstr>
      <vt:lpstr>Thank You.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PANDEY JI</cp:lastModifiedBy>
  <cp:revision>5</cp:revision>
  <dcterms:created xsi:type="dcterms:W3CDTF">2026-06-01T10:06:14Z</dcterms:created>
  <dcterms:modified xsi:type="dcterms:W3CDTF">2026-07-11T05:01:00Z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2026-06-01T00:00:00Z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2026-06-01T00:00:00Z</vt:filetime>
  </property>
</Properties>
</file>